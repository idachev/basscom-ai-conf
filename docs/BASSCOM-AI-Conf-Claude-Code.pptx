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4630400" cy="8229600"/>
  <p:notesSz cx="8229600" cy="14630400"/>
  <p:embeddedFontLst>
    <p:embeddedFont>
      <p:font typeface="Roboto Mono Medium"/>
      <p:regular r:id="rId27"/>
    </p:embeddedFont>
    <p:embeddedFont>
      <p:font typeface="Roboto Mono Medium"/>
      <p:regular r:id="rId28"/>
    </p:embeddedFont>
    <p:embeddedFont>
      <p:font typeface="Roboto Mono Medium"/>
      <p:regular r:id="rId29"/>
    </p:embeddedFont>
    <p:embeddedFont>
      <p:font typeface="Roboto Mono Medium"/>
      <p:regular r:id="rId30"/>
    </p:embeddedFont>
    <p:embeddedFont>
      <p:font typeface="Roboto"/>
      <p:regular r:id="rId31"/>
    </p:embeddedFont>
    <p:embeddedFont>
      <p:font typeface="Roboto"/>
      <p:regular r:id="rId32"/>
    </p:embeddedFont>
    <p:embeddedFont>
      <p:font typeface="Roboto"/>
      <p:regular r:id="rId33"/>
    </p:embeddedFont>
    <p:embeddedFont>
      <p:font typeface="Roboto"/>
      <p:regular r:id="rId3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Skills/Rules from build in and Claude Code official repo.Useful MCP servers:
https://github.com/vercel-labs/agent-browserhttps://www.claudedirectory.org/plugins/playwrighthttps://www.atlassian.com/platform/remote-mcp-server
Using superpowers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is
Newest way to extend Claude Code
Like an onboarding guide for a new engineer
A folder with SKILL.md + optional scripts, templates, docs
How it works
Claude reads the description up front
Matches request → loads full skill into context
Progressive disclosure — no context cost until used
Two invocation modes
Auto-invoked (Claude decides)
Explicit (/skill-name)
Ecosystem
Bundled skills from Anthropic (debug, batch, etc.)
Community skills on GitHub (anthropics/skills) + 3rd-party registries
The key win
Write once, reuse everywhere
No more pasting standards into every chat
Whole team's Claude Code picks it up
YAML frontmatter — the essentials
Identity: name, description, when_to_use
Invocation control: disable-model-invocation, user-invocable, paths
Arguments: arguments, argument-hint
Execution: allowed-tools, model, effort, shell
Subagent: context: fork, agent
Lifecycle: hooks
Only description is truly recommended — rest is optional
Closer
Minimal skill = just name + description +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they are
Specialized assistants for specific task types
Each runs in its own context window
Custom system prompt, tool access, permissions
Markdown file + YAML frontmatter in .claude/agents/
Why they matter
Preserve context — verbose output stays out of main chat
Enforce constraints — limit tools, permissions per agent
Specialize behavior — focused prompts per domain
Control costs — route cheap tasks to Haiku
Built-in agents
Explore — read-only, Haiku, fast codebase search
Plan — research during plan mode
general-purpose — full toolkit, multi-step work
Three ways to invoke
Auto — Claude delegates based on description
Explicit — @agent-name mention
Session-wide — claude --agent &lt;name&gt;
Foreground vs background
Foreground blocks main chat; background runs concurrent
Ctrl+B to background a running task
Superpowers
Preload skills into agents (skills: field)
Persistent memory across sessions (memory: user/project/local)
Scoped MCP servers (keep tools out of main context)
Lifecycle hooks (PreToolUse, PostToolUse, SubagentStop)
Frontmatter essentials (only name + description required)
Identity: name, description
Tools: tools, disallowedTools
Model: model, effort
Permissions: permissionMode, maxTurns
Context: skills, mcpServers, memory, isolation
Lifecycle: hooks, background, initialPrompt
Skills vs Subagents (the key distinction)
Skill = knowledge injected into main chat
Subagent = isolated worker that returns a summary
Skills when you need context; subagents when you don't
Closer
Minimal agent = name + description + system prompt
Best for verbose, self-contained tasks that return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we’re not just showing a development cycle — we’re showing a feedback system.
Claude Code follows a Plan → Code → Review → Refine loop, but the key differentiator is what happens in the Refine phase.
During Review, we identify issues — not just bugs, but also poor decisions, missing constraints, or unclear assumptions. Then in Refine, we don’t just fix the code — we update the system itself.
This includes improving the agent’s Skills, refining available commands, and updating the CLAUDE.md file, which acts as persistent guidance for future executions.
Over time, this creates a self-learning loop. Every mistake becomes a rule. Every issue improves future behavior.
So instead of repeatedly making the same mistakes, the agent evolves — becoming more aligned, more predictable, and more effective with each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Rename your big plan/impl sessions.Add in the status line helper info.https://github.com/rtk-ai/rtk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Persistent memory across sessions Claude Code forgets everything between sessions — Steve Yegge calls this the "50 First Dates" problem. Beads gives the agent structured, persistent memory that lives in git alongside your code, so yesterday's work, decisions, and progress are still there tomorrow.
Dependency-aware "ready" task queue Most task systems hand the agent a flat list. Beads tracks dependencies between tasks and exposes a bd ready command that only returns work with no unresolved blockers. Claude picks from that list and nothing else — no wasted effort on blocked work, no guessing what to do next.
Git-native, zero-conflict tracking Issues are stored as JSONL files in .beads/, versioned and merged like code. Tasks use hash-based IDs (e.g., bd-a1b2) instead of sequential numbers, which prevents merge collisions when multiple agents or branches create tasks in parallel. No central server — git IS the database.
Multi-agent orchestration with worktrees Beads pairs naturally with Claude Code's multi-agent patterns. Each task gets its own isolated git worktree (.worktrees/bd-{ID}/), so a supervisor agent can implement a fix without touching main. Multiple agents can work in parallel without stepping on each other, and every change is traceable back to a specific bead.
Context compaction / memory decay As projects grow, closed issues pile up and eat context window. Beads supports "agentic memory decay": after ~30 days, closed tasks are semantically summarized by the agent, keeping the essential context but shrinking the footprint. Originals remain recoverable from git history if you ever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5F7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hip.cars"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sv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slideLayout" Target="../slideLayouts/slideLayout10.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sv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svg"/><Relationship Id="rId14" Type="http://schemas.openxmlformats.org/officeDocument/2006/relationships/slideLayout" Target="../slideLayouts/slideLayout12.xml"/><Relationship Id="rId1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 Id="rId8" Type="http://schemas.openxmlformats.org/officeDocument/2006/relationships/slideLayout" Target="../slideLayouts/slideLayout13.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svg"/><Relationship Id="rId10" Type="http://schemas.openxmlformats.org/officeDocument/2006/relationships/slideLayout" Target="../slideLayouts/slideLayout16.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7.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svg"/><Relationship Id="rId4" Type="http://schemas.openxmlformats.org/officeDocument/2006/relationships/image" Target="../media/image-17-4.png"/><Relationship Id="rId5" Type="http://schemas.openxmlformats.org/officeDocument/2006/relationships/image" Target="../media/image-17-5.svg"/><Relationship Id="rId6" Type="http://schemas.openxmlformats.org/officeDocument/2006/relationships/image" Target="../media/image-17-6.png"/><Relationship Id="rId7" Type="http://schemas.openxmlformats.org/officeDocument/2006/relationships/image" Target="../media/image-17-7.svg"/><Relationship Id="rId8" Type="http://schemas.openxmlformats.org/officeDocument/2006/relationships/image" Target="../media/image-17-8.png"/><Relationship Id="rId9" Type="http://schemas.openxmlformats.org/officeDocument/2006/relationships/image" Target="../media/image-17-9.svg"/><Relationship Id="rId10" Type="http://schemas.openxmlformats.org/officeDocument/2006/relationships/slideLayout" Target="../slideLayouts/slideLayout18.xml"/><Relationship Id="rId1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ode.claude.com/docs/en/context-window" TargetMode="External"/><Relationship Id="rId2" Type="http://schemas.openxmlformats.org/officeDocument/2006/relationships/image" Target="../media/image-18-1.png"/><Relationship Id="rId3" Type="http://schemas.openxmlformats.org/officeDocument/2006/relationships/slideLayout" Target="../slideLayouts/slideLayout19.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4" Type="http://schemas.openxmlformats.org/officeDocument/2006/relationships/hyperlink" Target="https://github.com/gastownhall/beads" TargetMode="External"/><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svg"/><Relationship Id="rId4" Type="http://schemas.openxmlformats.org/officeDocument/2006/relationships/image" Target="../media/image-19-4.png"/><Relationship Id="rId5" Type="http://schemas.openxmlformats.org/officeDocument/2006/relationships/image" Target="../media/image-19-5.svg"/><Relationship Id="rId6" Type="http://schemas.openxmlformats.org/officeDocument/2006/relationships/image" Target="../media/image-19-6.png"/><Relationship Id="rId7" Type="http://schemas.openxmlformats.org/officeDocument/2006/relationships/image" Target="../media/image-19-7.svg"/><Relationship Id="rId8" Type="http://schemas.openxmlformats.org/officeDocument/2006/relationships/image" Target="../media/image-19-8.png"/><Relationship Id="rId9" Type="http://schemas.openxmlformats.org/officeDocument/2006/relationships/image" Target="../media/image-19-9.svg"/><Relationship Id="rId10" Type="http://schemas.openxmlformats.org/officeDocument/2006/relationships/image" Target="../media/image-19-10.png"/><Relationship Id="rId11" Type="http://schemas.openxmlformats.org/officeDocument/2006/relationships/image" Target="../media/image-19-11.svg"/><Relationship Id="rId12" Type="http://schemas.openxmlformats.org/officeDocument/2006/relationships/image" Target="../media/image-19-12.png"/><Relationship Id="rId13" Type="http://schemas.openxmlformats.org/officeDocument/2006/relationships/image" Target="../media/image-19-13.svg"/><Relationship Id="rId15" Type="http://schemas.openxmlformats.org/officeDocument/2006/relationships/slideLayout" Target="../slideLayouts/slideLayout20.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683425"/>
            <a:ext cx="7556421" cy="1956435"/>
          </a:xfrm>
          <a:prstGeom prst="rect">
            <a:avLst/>
          </a:prstGeom>
          <a:noFill/>
          <a:ln/>
        </p:spPr>
        <p:txBody>
          <a:bodyPr wrap="squar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Claude Code Hacks</a:t>
            </a:r>
            <a:endParaRPr lang="en-US" sz="6150" dirty="0"/>
          </a:p>
        </p:txBody>
      </p:sp>
      <p:sp>
        <p:nvSpPr>
          <p:cNvPr id="4" name="Text 1"/>
          <p:cNvSpPr/>
          <p:nvPr/>
        </p:nvSpPr>
        <p:spPr>
          <a:xfrm>
            <a:off x="793790" y="3980021"/>
            <a:ext cx="4536519" cy="1133951"/>
          </a:xfrm>
          <a:prstGeom prst="rect">
            <a:avLst/>
          </a:prstGeom>
          <a:noFill/>
          <a:ln/>
        </p:spPr>
        <p:txBody>
          <a:bodyPr wrap="square" lIns="0" tIns="0" rIns="0" bIns="0" rtlCol="0" anchor="t"/>
          <a:lstStyle/>
          <a:p>
            <a:pPr algn="l" indent="0" marL="0">
              <a:lnSpc>
                <a:spcPts val="4450"/>
              </a:lnSpc>
              <a:buNone/>
            </a:pPr>
            <a:r>
              <a:rPr lang="en-US" sz="3550" dirty="0">
                <a:solidFill>
                  <a:srgbClr val="2D3436"/>
                </a:solidFill>
                <a:latin typeface="Roboto Mono Medium" pitchFamily="34" charset="0"/>
                <a:ea typeface="Roboto Mono Medium" pitchFamily="34" charset="-122"/>
                <a:cs typeface="Roboto Mono Medium" pitchFamily="34" charset="-120"/>
              </a:rPr>
              <a:t>Ivan Dachev</a:t>
            </a:r>
            <a:endParaRPr lang="en-US" sz="3550" dirty="0"/>
          </a:p>
        </p:txBody>
      </p:sp>
      <p:pic>
        <p:nvPicPr>
          <p:cNvPr id="5" name="Image 1" descr="preencoded.png">
            <a:hlinkClick r:id="rId3" tooltip=""/>
          </p:cNvPr>
          <p:cNvPicPr>
            <a:picLocks noChangeAspect="1"/>
          </p:cNvPicPr>
          <p:nvPr/>
        </p:nvPicPr>
        <p:blipFill>
          <a:blip r:embed="rId2"/>
          <a:stretch>
            <a:fillRect/>
          </a:stretch>
        </p:blipFill>
        <p:spPr>
          <a:xfrm>
            <a:off x="793790" y="5454134"/>
            <a:ext cx="5153978" cy="1091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363986"/>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Agenda</a:t>
            </a:r>
            <a:endParaRPr lang="en-US" sz="6150" dirty="0"/>
          </a:p>
        </p:txBody>
      </p:sp>
      <p:sp>
        <p:nvSpPr>
          <p:cNvPr id="4" name="Shape 1"/>
          <p:cNvSpPr/>
          <p:nvPr/>
        </p:nvSpPr>
        <p:spPr>
          <a:xfrm>
            <a:off x="763310" y="3651885"/>
            <a:ext cx="60960" cy="486251"/>
          </a:xfrm>
          <a:prstGeom prst="rect">
            <a:avLst/>
          </a:prstGeom>
          <a:solidFill>
            <a:srgbClr val="B05F44"/>
          </a:solidFill>
          <a:ln/>
        </p:spPr>
      </p:sp>
      <p:sp>
        <p:nvSpPr>
          <p:cNvPr id="5" name="Text 2"/>
          <p:cNvSpPr/>
          <p:nvPr/>
        </p:nvSpPr>
        <p:spPr>
          <a:xfrm>
            <a:off x="1081564" y="3682365"/>
            <a:ext cx="3470315"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Available Toolbox</a:t>
            </a:r>
            <a:endParaRPr lang="en-US" sz="2650" dirty="0"/>
          </a:p>
        </p:txBody>
      </p:sp>
      <p:sp>
        <p:nvSpPr>
          <p:cNvPr id="6" name="Shape 3"/>
          <p:cNvSpPr/>
          <p:nvPr/>
        </p:nvSpPr>
        <p:spPr>
          <a:xfrm>
            <a:off x="763310" y="4530804"/>
            <a:ext cx="60960" cy="486251"/>
          </a:xfrm>
          <a:prstGeom prst="rect">
            <a:avLst/>
          </a:prstGeom>
          <a:solidFill>
            <a:srgbClr val="B05F44"/>
          </a:solidFill>
          <a:ln/>
        </p:spPr>
      </p:sp>
      <p:sp>
        <p:nvSpPr>
          <p:cNvPr id="7" name="Text 4"/>
          <p:cNvSpPr/>
          <p:nvPr/>
        </p:nvSpPr>
        <p:spPr>
          <a:xfrm>
            <a:off x="1081564" y="4561284"/>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Coding Workflow</a:t>
            </a:r>
            <a:endParaRPr lang="en-US" sz="2650" dirty="0"/>
          </a:p>
        </p:txBody>
      </p:sp>
      <p:sp>
        <p:nvSpPr>
          <p:cNvPr id="8" name="Shape 5"/>
          <p:cNvSpPr/>
          <p:nvPr/>
        </p:nvSpPr>
        <p:spPr>
          <a:xfrm>
            <a:off x="763310" y="5409724"/>
            <a:ext cx="60960" cy="486251"/>
          </a:xfrm>
          <a:prstGeom prst="rect">
            <a:avLst/>
          </a:prstGeom>
          <a:solidFill>
            <a:srgbClr val="B05F44"/>
          </a:solidFill>
          <a:ln/>
        </p:spPr>
      </p:sp>
      <p:sp>
        <p:nvSpPr>
          <p:cNvPr id="9" name="Text 6"/>
          <p:cNvSpPr/>
          <p:nvPr/>
        </p:nvSpPr>
        <p:spPr>
          <a:xfrm>
            <a:off x="1081564" y="5440204"/>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Useful Hacks</a:t>
            </a:r>
            <a:endParaRPr lang="en-US" sz="2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867853"/>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Toolbox</a:t>
            </a:r>
            <a:endParaRPr lang="en-US" sz="61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80190" y="3186232"/>
            <a:ext cx="453628" cy="453628"/>
          </a:xfrm>
          <a:prstGeom prst="rect">
            <a:avLst/>
          </a:prstGeom>
        </p:spPr>
      </p:pic>
      <p:sp>
        <p:nvSpPr>
          <p:cNvPr id="5" name="Text 1"/>
          <p:cNvSpPr/>
          <p:nvPr/>
        </p:nvSpPr>
        <p:spPr>
          <a:xfrm>
            <a:off x="7017306" y="3264098"/>
            <a:ext cx="3571042"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Agents &amp; Skills/Rules</a:t>
            </a:r>
            <a:endParaRPr lang="en-US" sz="22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0190" y="4093488"/>
            <a:ext cx="453628" cy="453628"/>
          </a:xfrm>
          <a:prstGeom prst="rect">
            <a:avLst/>
          </a:prstGeom>
        </p:spPr>
      </p:pic>
      <p:sp>
        <p:nvSpPr>
          <p:cNvPr id="7" name="Text 2"/>
          <p:cNvSpPr/>
          <p:nvPr/>
        </p:nvSpPr>
        <p:spPr>
          <a:xfrm>
            <a:off x="7017306" y="41713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MCP Servers</a:t>
            </a:r>
            <a:endParaRPr lang="en-US" sz="22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0190" y="5000744"/>
            <a:ext cx="453628" cy="453628"/>
          </a:xfrm>
          <a:prstGeom prst="rect">
            <a:avLst/>
          </a:prstGeom>
        </p:spPr>
      </p:pic>
      <p:sp>
        <p:nvSpPr>
          <p:cNvPr id="9" name="Text 3"/>
          <p:cNvSpPr/>
          <p:nvPr/>
        </p:nvSpPr>
        <p:spPr>
          <a:xfrm>
            <a:off x="7017306" y="5078611"/>
            <a:ext cx="3571042"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Plugins &amp; Marketplace</a:t>
            </a:r>
            <a:endParaRPr lang="en-US" sz="22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80190" y="5908000"/>
            <a:ext cx="453628" cy="453628"/>
          </a:xfrm>
          <a:prstGeom prst="rect">
            <a:avLst/>
          </a:prstGeom>
        </p:spPr>
      </p:pic>
      <p:sp>
        <p:nvSpPr>
          <p:cNvPr id="11" name="Text 4"/>
          <p:cNvSpPr/>
          <p:nvPr/>
        </p:nvSpPr>
        <p:spPr>
          <a:xfrm>
            <a:off x="7017306" y="5985867"/>
            <a:ext cx="3060978"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Context Management</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46778"/>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and More</a:t>
            </a:r>
            <a:endParaRPr lang="en-US" sz="61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3790" y="3165158"/>
            <a:ext cx="566976" cy="566976"/>
          </a:xfrm>
          <a:prstGeom prst="rect">
            <a:avLst/>
          </a:prstGeom>
        </p:spPr>
      </p:pic>
      <p:sp>
        <p:nvSpPr>
          <p:cNvPr id="5" name="Text 1"/>
          <p:cNvSpPr/>
          <p:nvPr/>
        </p:nvSpPr>
        <p:spPr>
          <a:xfrm>
            <a:off x="793790" y="40156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Terminal Hacks</a:t>
            </a:r>
            <a:endParaRPr lang="en-US" sz="22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713684" y="3165158"/>
            <a:ext cx="566976" cy="566976"/>
          </a:xfrm>
          <a:prstGeom prst="rect">
            <a:avLst/>
          </a:prstGeom>
        </p:spPr>
      </p:pic>
      <p:sp>
        <p:nvSpPr>
          <p:cNvPr id="7" name="Text 2"/>
          <p:cNvSpPr/>
          <p:nvPr/>
        </p:nvSpPr>
        <p:spPr>
          <a:xfrm>
            <a:off x="4713684" y="4015621"/>
            <a:ext cx="3230999"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Hooks &amp; Status Line</a:t>
            </a:r>
            <a:endParaRPr lang="en-US" sz="22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3790" y="4823579"/>
            <a:ext cx="566976" cy="566976"/>
          </a:xfrm>
          <a:prstGeom prst="rect">
            <a:avLst/>
          </a:prstGeom>
        </p:spPr>
      </p:pic>
      <p:sp>
        <p:nvSpPr>
          <p:cNvPr id="9" name="Text 3"/>
          <p:cNvSpPr/>
          <p:nvPr/>
        </p:nvSpPr>
        <p:spPr>
          <a:xfrm>
            <a:off x="793790" y="5674042"/>
            <a:ext cx="2890837"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Task Organization</a:t>
            </a:r>
            <a:endParaRPr lang="en-US" sz="22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13684" y="4823579"/>
            <a:ext cx="566976" cy="566976"/>
          </a:xfrm>
          <a:prstGeom prst="rect">
            <a:avLst/>
          </a:prstGeom>
        </p:spPr>
      </p:pic>
      <p:sp>
        <p:nvSpPr>
          <p:cNvPr id="11" name="Text 4"/>
          <p:cNvSpPr/>
          <p:nvPr/>
        </p:nvSpPr>
        <p:spPr>
          <a:xfrm>
            <a:off x="4713684" y="5674042"/>
            <a:ext cx="3636526" cy="708660"/>
          </a:xfrm>
          <a:prstGeom prst="rect">
            <a:avLst/>
          </a:prstGeom>
          <a:noFill/>
          <a:ln/>
        </p:spPr>
        <p:txBody>
          <a:bodyPr wrap="squar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Workflow Orchestration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149912" y="1092160"/>
            <a:ext cx="10330458" cy="1956435"/>
          </a:xfrm>
          <a:prstGeom prst="rect">
            <a:avLst/>
          </a:prstGeom>
          <a:noFill/>
          <a:ln/>
        </p:spPr>
        <p:txBody>
          <a:bodyPr wrap="square" lIns="0" tIns="0" rIns="0" bIns="0" rtlCol="0" anchor="t"/>
          <a:lstStyle/>
          <a:p>
            <a:pPr algn="ctr"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Agents: From Chat to </a:t>
            </a:r>
            <a:endParaRPr lang="en-US" sz="6150" dirty="0"/>
          </a:p>
          <a:p>
            <a:pPr algn="ctr"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Autonomous Development</a:t>
            </a:r>
            <a:endParaRPr lang="en-US" sz="6150" dirty="0"/>
          </a:p>
        </p:txBody>
      </p:sp>
      <p:sp>
        <p:nvSpPr>
          <p:cNvPr id="3" name="Shape 1"/>
          <p:cNvSpPr/>
          <p:nvPr/>
        </p:nvSpPr>
        <p:spPr>
          <a:xfrm>
            <a:off x="793790" y="3388757"/>
            <a:ext cx="6407944" cy="1760934"/>
          </a:xfrm>
          <a:prstGeom prst="roundRect">
            <a:avLst>
              <a:gd name="adj" fmla="val 519"/>
            </a:avLst>
          </a:prstGeom>
          <a:solidFill>
            <a:srgbClr val="E3E7EE"/>
          </a:solidFill>
          <a:ln w="22860">
            <a:solidFill>
              <a:srgbClr val="C9CDD4"/>
            </a:solidFill>
            <a:prstDash val="solid"/>
          </a:ln>
        </p:spPr>
      </p:sp>
      <p:sp>
        <p:nvSpPr>
          <p:cNvPr id="4" name="Shape 2"/>
          <p:cNvSpPr/>
          <p:nvPr/>
        </p:nvSpPr>
        <p:spPr>
          <a:xfrm>
            <a:off x="1043464" y="3638431"/>
            <a:ext cx="680442" cy="680442"/>
          </a:xfrm>
          <a:prstGeom prst="roundRect">
            <a:avLst>
              <a:gd name="adj" fmla="val 13436980"/>
            </a:avLst>
          </a:prstGeom>
          <a:solidFill>
            <a:srgbClr val="B05F44"/>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30630" y="3825478"/>
            <a:ext cx="306110" cy="306110"/>
          </a:xfrm>
          <a:prstGeom prst="rect">
            <a:avLst/>
          </a:prstGeom>
        </p:spPr>
      </p:pic>
      <p:sp>
        <p:nvSpPr>
          <p:cNvPr id="6" name="Text 3"/>
          <p:cNvSpPr/>
          <p:nvPr/>
        </p:nvSpPr>
        <p:spPr>
          <a:xfrm>
            <a:off x="1043464" y="4545687"/>
            <a:ext cx="5271492"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Plan → Code → Review → Refine</a:t>
            </a:r>
            <a:endParaRPr lang="en-US" sz="2200" dirty="0"/>
          </a:p>
        </p:txBody>
      </p:sp>
      <p:sp>
        <p:nvSpPr>
          <p:cNvPr id="7" name="Shape 4"/>
          <p:cNvSpPr/>
          <p:nvPr/>
        </p:nvSpPr>
        <p:spPr>
          <a:xfrm>
            <a:off x="7428548" y="3388757"/>
            <a:ext cx="6408063" cy="1760934"/>
          </a:xfrm>
          <a:prstGeom prst="roundRect">
            <a:avLst>
              <a:gd name="adj" fmla="val 519"/>
            </a:avLst>
          </a:prstGeom>
          <a:solidFill>
            <a:srgbClr val="E3E7EE"/>
          </a:solidFill>
          <a:ln w="22860">
            <a:solidFill>
              <a:srgbClr val="C9CDD4"/>
            </a:solidFill>
            <a:prstDash val="solid"/>
          </a:ln>
        </p:spPr>
      </p:sp>
      <p:sp>
        <p:nvSpPr>
          <p:cNvPr id="8" name="Shape 5"/>
          <p:cNvSpPr/>
          <p:nvPr/>
        </p:nvSpPr>
        <p:spPr>
          <a:xfrm>
            <a:off x="7678222" y="3638431"/>
            <a:ext cx="680442" cy="680442"/>
          </a:xfrm>
          <a:prstGeom prst="roundRect">
            <a:avLst>
              <a:gd name="adj" fmla="val 13436980"/>
            </a:avLst>
          </a:prstGeom>
          <a:solidFill>
            <a:srgbClr val="B05F44"/>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65388" y="3825478"/>
            <a:ext cx="306110" cy="306110"/>
          </a:xfrm>
          <a:prstGeom prst="rect">
            <a:avLst/>
          </a:prstGeom>
        </p:spPr>
      </p:pic>
      <p:sp>
        <p:nvSpPr>
          <p:cNvPr id="10" name="Text 6"/>
          <p:cNvSpPr/>
          <p:nvPr/>
        </p:nvSpPr>
        <p:spPr>
          <a:xfrm>
            <a:off x="7678222" y="4545687"/>
            <a:ext cx="3230999"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Parallel Sub Agents</a:t>
            </a:r>
            <a:endParaRPr lang="en-US" sz="2200" dirty="0"/>
          </a:p>
        </p:txBody>
      </p:sp>
      <p:sp>
        <p:nvSpPr>
          <p:cNvPr id="11" name="Shape 7"/>
          <p:cNvSpPr/>
          <p:nvPr/>
        </p:nvSpPr>
        <p:spPr>
          <a:xfrm>
            <a:off x="793790" y="5376505"/>
            <a:ext cx="6407944" cy="1760934"/>
          </a:xfrm>
          <a:prstGeom prst="roundRect">
            <a:avLst>
              <a:gd name="adj" fmla="val 519"/>
            </a:avLst>
          </a:prstGeom>
          <a:solidFill>
            <a:srgbClr val="E3E7EE"/>
          </a:solidFill>
          <a:ln w="22860">
            <a:solidFill>
              <a:srgbClr val="C9CDD4"/>
            </a:solidFill>
            <a:prstDash val="solid"/>
          </a:ln>
        </p:spPr>
      </p:sp>
      <p:sp>
        <p:nvSpPr>
          <p:cNvPr id="12" name="Shape 8"/>
          <p:cNvSpPr/>
          <p:nvPr/>
        </p:nvSpPr>
        <p:spPr>
          <a:xfrm>
            <a:off x="1043464" y="5626179"/>
            <a:ext cx="680442" cy="680442"/>
          </a:xfrm>
          <a:prstGeom prst="roundRect">
            <a:avLst>
              <a:gd name="adj" fmla="val 13436980"/>
            </a:avLst>
          </a:prstGeom>
          <a:solidFill>
            <a:srgbClr val="B05F44"/>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30630" y="5813227"/>
            <a:ext cx="306110" cy="306110"/>
          </a:xfrm>
          <a:prstGeom prst="rect">
            <a:avLst/>
          </a:prstGeom>
        </p:spPr>
      </p:pic>
      <p:sp>
        <p:nvSpPr>
          <p:cNvPr id="14" name="Text 9"/>
          <p:cNvSpPr/>
          <p:nvPr/>
        </p:nvSpPr>
        <p:spPr>
          <a:xfrm>
            <a:off x="1043464" y="6533436"/>
            <a:ext cx="3401020"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Contextual Awareness</a:t>
            </a:r>
            <a:endParaRPr lang="en-US" sz="2200" dirty="0"/>
          </a:p>
        </p:txBody>
      </p:sp>
      <p:sp>
        <p:nvSpPr>
          <p:cNvPr id="15" name="Shape 10"/>
          <p:cNvSpPr/>
          <p:nvPr/>
        </p:nvSpPr>
        <p:spPr>
          <a:xfrm>
            <a:off x="7428548" y="5376505"/>
            <a:ext cx="6408063" cy="1760934"/>
          </a:xfrm>
          <a:prstGeom prst="roundRect">
            <a:avLst>
              <a:gd name="adj" fmla="val 519"/>
            </a:avLst>
          </a:prstGeom>
          <a:solidFill>
            <a:srgbClr val="E3E7EE"/>
          </a:solidFill>
          <a:ln w="22860">
            <a:solidFill>
              <a:srgbClr val="C9CDD4"/>
            </a:solidFill>
            <a:prstDash val="solid"/>
          </a:ln>
        </p:spPr>
      </p:sp>
      <p:sp>
        <p:nvSpPr>
          <p:cNvPr id="16" name="Shape 11"/>
          <p:cNvSpPr/>
          <p:nvPr/>
        </p:nvSpPr>
        <p:spPr>
          <a:xfrm>
            <a:off x="7678222" y="5626179"/>
            <a:ext cx="680442" cy="680442"/>
          </a:xfrm>
          <a:prstGeom prst="roundRect">
            <a:avLst>
              <a:gd name="adj" fmla="val 13436980"/>
            </a:avLst>
          </a:prstGeom>
          <a:solidFill>
            <a:srgbClr val="B05F44"/>
          </a:solidFill>
          <a:ln/>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65388" y="5813227"/>
            <a:ext cx="306110" cy="306110"/>
          </a:xfrm>
          <a:prstGeom prst="rect">
            <a:avLst/>
          </a:prstGeom>
        </p:spPr>
      </p:pic>
      <p:sp>
        <p:nvSpPr>
          <p:cNvPr id="18" name="Text 12"/>
          <p:cNvSpPr/>
          <p:nvPr/>
        </p:nvSpPr>
        <p:spPr>
          <a:xfrm>
            <a:off x="7678222" y="653343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Tasks Execution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402449" y="2341840"/>
            <a:ext cx="7825502" cy="978218"/>
          </a:xfrm>
          <a:prstGeom prst="rect">
            <a:avLst/>
          </a:prstGeom>
          <a:noFill/>
          <a:ln/>
        </p:spPr>
        <p:txBody>
          <a:bodyPr wrap="none" lIns="0" tIns="0" rIns="0" bIns="0" rtlCol="0" anchor="t"/>
          <a:lstStyle/>
          <a:p>
            <a:pPr algn="ctr"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Skills/Rules</a:t>
            </a:r>
            <a:endParaRPr lang="en-US" sz="6150" dirty="0"/>
          </a:p>
        </p:txBody>
      </p:sp>
      <p:sp>
        <p:nvSpPr>
          <p:cNvPr id="3" name="Shape 1"/>
          <p:cNvSpPr/>
          <p:nvPr/>
        </p:nvSpPr>
        <p:spPr>
          <a:xfrm>
            <a:off x="793790" y="4000381"/>
            <a:ext cx="4196358" cy="1887260"/>
          </a:xfrm>
          <a:prstGeom prst="roundRect">
            <a:avLst>
              <a:gd name="adj" fmla="val 7752"/>
            </a:avLst>
          </a:prstGeom>
          <a:solidFill>
            <a:srgbClr val="F5F7FA"/>
          </a:solidFill>
          <a:ln/>
        </p:spPr>
      </p:sp>
      <p:sp>
        <p:nvSpPr>
          <p:cNvPr id="4" name="Shape 2"/>
          <p:cNvSpPr/>
          <p:nvPr/>
        </p:nvSpPr>
        <p:spPr>
          <a:xfrm>
            <a:off x="793790" y="3969901"/>
            <a:ext cx="4196358" cy="121920"/>
          </a:xfrm>
          <a:prstGeom prst="roundRect">
            <a:avLst>
              <a:gd name="adj" fmla="val 7500"/>
            </a:avLst>
          </a:prstGeom>
          <a:solidFill>
            <a:srgbClr val="B05F44"/>
          </a:solidFill>
          <a:ln/>
        </p:spPr>
      </p:sp>
      <p:sp>
        <p:nvSpPr>
          <p:cNvPr id="5" name="Shape 3"/>
          <p:cNvSpPr/>
          <p:nvPr/>
        </p:nvSpPr>
        <p:spPr>
          <a:xfrm>
            <a:off x="2551688" y="3660219"/>
            <a:ext cx="680442" cy="680442"/>
          </a:xfrm>
          <a:prstGeom prst="roundRect">
            <a:avLst>
              <a:gd name="adj" fmla="val 134383"/>
            </a:avLst>
          </a:prstGeom>
          <a:solidFill>
            <a:srgbClr val="B05F44"/>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55761" y="3864293"/>
            <a:ext cx="272177" cy="272177"/>
          </a:xfrm>
          <a:prstGeom prst="rect">
            <a:avLst/>
          </a:prstGeom>
        </p:spPr>
      </p:pic>
      <p:sp>
        <p:nvSpPr>
          <p:cNvPr id="7" name="Text 4"/>
          <p:cNvSpPr/>
          <p:nvPr/>
        </p:nvSpPr>
        <p:spPr>
          <a:xfrm>
            <a:off x="1361480" y="4567357"/>
            <a:ext cx="3060978" cy="354330"/>
          </a:xfrm>
          <a:prstGeom prst="rect">
            <a:avLst/>
          </a:prstGeom>
          <a:noFill/>
          <a:ln/>
        </p:spPr>
        <p:txBody>
          <a:bodyPr wrap="non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Reusable Playbooks</a:t>
            </a:r>
            <a:endParaRPr lang="en-US" sz="2200" dirty="0"/>
          </a:p>
        </p:txBody>
      </p:sp>
      <p:sp>
        <p:nvSpPr>
          <p:cNvPr id="8" name="Shape 5"/>
          <p:cNvSpPr/>
          <p:nvPr/>
        </p:nvSpPr>
        <p:spPr>
          <a:xfrm>
            <a:off x="5216962" y="4000381"/>
            <a:ext cx="4196358" cy="1887260"/>
          </a:xfrm>
          <a:prstGeom prst="roundRect">
            <a:avLst>
              <a:gd name="adj" fmla="val 7752"/>
            </a:avLst>
          </a:prstGeom>
          <a:solidFill>
            <a:srgbClr val="F5F7FA"/>
          </a:solidFill>
          <a:ln/>
        </p:spPr>
      </p:sp>
      <p:sp>
        <p:nvSpPr>
          <p:cNvPr id="9" name="Shape 6"/>
          <p:cNvSpPr/>
          <p:nvPr/>
        </p:nvSpPr>
        <p:spPr>
          <a:xfrm>
            <a:off x="5216962" y="3969901"/>
            <a:ext cx="4196358" cy="121920"/>
          </a:xfrm>
          <a:prstGeom prst="roundRect">
            <a:avLst>
              <a:gd name="adj" fmla="val 7500"/>
            </a:avLst>
          </a:prstGeom>
          <a:solidFill>
            <a:srgbClr val="B05F44"/>
          </a:solidFill>
          <a:ln/>
        </p:spPr>
      </p:sp>
      <p:sp>
        <p:nvSpPr>
          <p:cNvPr id="10" name="Shape 7"/>
          <p:cNvSpPr/>
          <p:nvPr/>
        </p:nvSpPr>
        <p:spPr>
          <a:xfrm>
            <a:off x="6974860" y="3660219"/>
            <a:ext cx="680442" cy="680442"/>
          </a:xfrm>
          <a:prstGeom prst="roundRect">
            <a:avLst>
              <a:gd name="adj" fmla="val 134383"/>
            </a:avLst>
          </a:prstGeom>
          <a:solidFill>
            <a:srgbClr val="B05F44"/>
          </a:solidFill>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78933" y="3864293"/>
            <a:ext cx="272177" cy="272177"/>
          </a:xfrm>
          <a:prstGeom prst="rect">
            <a:avLst/>
          </a:prstGeom>
        </p:spPr>
      </p:pic>
      <p:sp>
        <p:nvSpPr>
          <p:cNvPr id="12" name="Text 8"/>
          <p:cNvSpPr/>
          <p:nvPr/>
        </p:nvSpPr>
        <p:spPr>
          <a:xfrm>
            <a:off x="5897523" y="4567357"/>
            <a:ext cx="2835235" cy="1062990"/>
          </a:xfrm>
          <a:prstGeom prst="rect">
            <a:avLst/>
          </a:prstGeom>
          <a:noFill/>
          <a:ln/>
        </p:spPr>
        <p:txBody>
          <a:bodyPr wrap="squar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Auto-loaded</a:t>
            </a:r>
            <a:endParaRPr lang="en-US" sz="2200" dirty="0"/>
          </a:p>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or </a:t>
            </a:r>
            <a:endParaRPr lang="en-US" sz="2200" dirty="0"/>
          </a:p>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Slash-invoked</a:t>
            </a:r>
            <a:endParaRPr lang="en-US" sz="2200" dirty="0"/>
          </a:p>
        </p:txBody>
      </p:sp>
      <p:sp>
        <p:nvSpPr>
          <p:cNvPr id="13" name="Shape 9"/>
          <p:cNvSpPr/>
          <p:nvPr/>
        </p:nvSpPr>
        <p:spPr>
          <a:xfrm>
            <a:off x="9640133" y="4000381"/>
            <a:ext cx="4196358" cy="1887260"/>
          </a:xfrm>
          <a:prstGeom prst="roundRect">
            <a:avLst>
              <a:gd name="adj" fmla="val 7752"/>
            </a:avLst>
          </a:prstGeom>
          <a:solidFill>
            <a:srgbClr val="F5F7FA"/>
          </a:solidFill>
          <a:ln/>
        </p:spPr>
      </p:sp>
      <p:sp>
        <p:nvSpPr>
          <p:cNvPr id="14" name="Shape 10"/>
          <p:cNvSpPr/>
          <p:nvPr/>
        </p:nvSpPr>
        <p:spPr>
          <a:xfrm>
            <a:off x="9640133" y="3969901"/>
            <a:ext cx="4196358" cy="121920"/>
          </a:xfrm>
          <a:prstGeom prst="roundRect">
            <a:avLst>
              <a:gd name="adj" fmla="val 7500"/>
            </a:avLst>
          </a:prstGeom>
          <a:solidFill>
            <a:srgbClr val="B05F44"/>
          </a:solidFill>
          <a:ln/>
        </p:spPr>
      </p:sp>
      <p:sp>
        <p:nvSpPr>
          <p:cNvPr id="15" name="Shape 11"/>
          <p:cNvSpPr/>
          <p:nvPr/>
        </p:nvSpPr>
        <p:spPr>
          <a:xfrm>
            <a:off x="11398032" y="3660219"/>
            <a:ext cx="680442" cy="680442"/>
          </a:xfrm>
          <a:prstGeom prst="roundRect">
            <a:avLst>
              <a:gd name="adj" fmla="val 134383"/>
            </a:avLst>
          </a:prstGeom>
          <a:solidFill>
            <a:srgbClr val="B05F44"/>
          </a:solidFill>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02105" y="3864293"/>
            <a:ext cx="272177" cy="272177"/>
          </a:xfrm>
          <a:prstGeom prst="rect">
            <a:avLst/>
          </a:prstGeom>
        </p:spPr>
      </p:pic>
      <p:sp>
        <p:nvSpPr>
          <p:cNvPr id="17" name="Text 12"/>
          <p:cNvSpPr/>
          <p:nvPr/>
        </p:nvSpPr>
        <p:spPr>
          <a:xfrm>
            <a:off x="10207823" y="4567357"/>
            <a:ext cx="3060978" cy="708660"/>
          </a:xfrm>
          <a:prstGeom prst="rect">
            <a:avLst/>
          </a:prstGeom>
          <a:noFill/>
          <a:ln/>
        </p:spPr>
        <p:txBody>
          <a:bodyPr wrap="squar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Bundled +</a:t>
            </a:r>
            <a:endParaRPr lang="en-US" sz="2200" dirty="0"/>
          </a:p>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Custom + Community</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00219"/>
            <a:ext cx="7556421" cy="978218"/>
          </a:xfrm>
          <a:prstGeom prst="rect">
            <a:avLst/>
          </a:prstGeom>
          <a:noFill/>
          <a:ln/>
        </p:spPr>
        <p:txBody>
          <a:bodyPr wrap="none" lIns="0" tIns="0" rIns="0" bIns="0" rtlCol="0" anchor="t"/>
          <a:lstStyle/>
          <a:p>
            <a:pPr algn="ctr"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Subagents</a:t>
            </a:r>
            <a:endParaRPr lang="en-US" sz="6150" dirty="0"/>
          </a:p>
        </p:txBody>
      </p:sp>
      <p:sp>
        <p:nvSpPr>
          <p:cNvPr id="4" name="Shape 1"/>
          <p:cNvSpPr/>
          <p:nvPr/>
        </p:nvSpPr>
        <p:spPr>
          <a:xfrm>
            <a:off x="793790" y="2118598"/>
            <a:ext cx="3664744" cy="2469594"/>
          </a:xfrm>
          <a:prstGeom prst="roundRect">
            <a:avLst>
              <a:gd name="adj" fmla="val 370"/>
            </a:avLst>
          </a:prstGeom>
          <a:solidFill>
            <a:srgbClr val="E3E7EE"/>
          </a:solidFill>
          <a:ln w="22860">
            <a:solidFill>
              <a:srgbClr val="C9CDD4"/>
            </a:solidFill>
            <a:prstDash val="solid"/>
          </a:ln>
        </p:spPr>
      </p:sp>
      <p:sp>
        <p:nvSpPr>
          <p:cNvPr id="5" name="Shape 2"/>
          <p:cNvSpPr/>
          <p:nvPr/>
        </p:nvSpPr>
        <p:spPr>
          <a:xfrm>
            <a:off x="2285881" y="2368272"/>
            <a:ext cx="680442" cy="680442"/>
          </a:xfrm>
          <a:prstGeom prst="roundRect">
            <a:avLst>
              <a:gd name="adj" fmla="val 13436980"/>
            </a:avLst>
          </a:prstGeom>
          <a:solidFill>
            <a:srgbClr val="B05F44"/>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73047" y="2555319"/>
            <a:ext cx="306110" cy="306110"/>
          </a:xfrm>
          <a:prstGeom prst="rect">
            <a:avLst/>
          </a:prstGeom>
        </p:spPr>
      </p:pic>
      <p:sp>
        <p:nvSpPr>
          <p:cNvPr id="7" name="Text 3"/>
          <p:cNvSpPr/>
          <p:nvPr/>
        </p:nvSpPr>
        <p:spPr>
          <a:xfrm>
            <a:off x="1208484" y="3275528"/>
            <a:ext cx="2835235" cy="354330"/>
          </a:xfrm>
          <a:prstGeom prst="rect">
            <a:avLst/>
          </a:prstGeom>
          <a:noFill/>
          <a:ln/>
        </p:spPr>
        <p:txBody>
          <a:bodyPr wrap="non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Isolated context</a:t>
            </a:r>
            <a:endParaRPr lang="en-US" sz="2200" dirty="0"/>
          </a:p>
        </p:txBody>
      </p:sp>
      <p:sp>
        <p:nvSpPr>
          <p:cNvPr id="8" name="Shape 4"/>
          <p:cNvSpPr/>
          <p:nvPr/>
        </p:nvSpPr>
        <p:spPr>
          <a:xfrm>
            <a:off x="4685348" y="2118598"/>
            <a:ext cx="3664863" cy="2469594"/>
          </a:xfrm>
          <a:prstGeom prst="roundRect">
            <a:avLst>
              <a:gd name="adj" fmla="val 370"/>
            </a:avLst>
          </a:prstGeom>
          <a:solidFill>
            <a:srgbClr val="E3E7EE"/>
          </a:solidFill>
          <a:ln w="22860">
            <a:solidFill>
              <a:srgbClr val="C9CDD4"/>
            </a:solidFill>
            <a:prstDash val="solid"/>
          </a:ln>
        </p:spPr>
      </p:sp>
      <p:sp>
        <p:nvSpPr>
          <p:cNvPr id="9" name="Shape 5"/>
          <p:cNvSpPr/>
          <p:nvPr/>
        </p:nvSpPr>
        <p:spPr>
          <a:xfrm>
            <a:off x="6177558" y="2368272"/>
            <a:ext cx="680442" cy="680442"/>
          </a:xfrm>
          <a:prstGeom prst="roundRect">
            <a:avLst>
              <a:gd name="adj" fmla="val 13436980"/>
            </a:avLst>
          </a:prstGeom>
          <a:solidFill>
            <a:srgbClr val="B05F44"/>
          </a:solidFill>
          <a:ln/>
        </p:spPr>
      </p:sp>
      <p:pic>
        <p:nvPicPr>
          <p:cNvPr id="1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64724" y="2555319"/>
            <a:ext cx="306110" cy="306110"/>
          </a:xfrm>
          <a:prstGeom prst="rect">
            <a:avLst/>
          </a:prstGeom>
        </p:spPr>
      </p:pic>
      <p:sp>
        <p:nvSpPr>
          <p:cNvPr id="11" name="Text 6"/>
          <p:cNvSpPr/>
          <p:nvPr/>
        </p:nvSpPr>
        <p:spPr>
          <a:xfrm>
            <a:off x="4935022" y="3275528"/>
            <a:ext cx="3165515" cy="1062990"/>
          </a:xfrm>
          <a:prstGeom prst="rect">
            <a:avLst/>
          </a:prstGeom>
          <a:noFill/>
          <a:ln/>
        </p:spPr>
        <p:txBody>
          <a:bodyPr wrap="squar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Custom prompt, Tools, </a:t>
            </a:r>
            <a:endParaRPr lang="en-US" sz="2200" dirty="0"/>
          </a:p>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Self permissions</a:t>
            </a:r>
            <a:endParaRPr lang="en-US" sz="2200" dirty="0"/>
          </a:p>
        </p:txBody>
      </p:sp>
      <p:sp>
        <p:nvSpPr>
          <p:cNvPr id="12" name="Shape 7"/>
          <p:cNvSpPr/>
          <p:nvPr/>
        </p:nvSpPr>
        <p:spPr>
          <a:xfrm>
            <a:off x="793790" y="4815007"/>
            <a:ext cx="3664744" cy="2614255"/>
          </a:xfrm>
          <a:prstGeom prst="roundRect">
            <a:avLst>
              <a:gd name="adj" fmla="val 350"/>
            </a:avLst>
          </a:prstGeom>
          <a:solidFill>
            <a:srgbClr val="E3E7EE"/>
          </a:solidFill>
          <a:ln w="22860">
            <a:solidFill>
              <a:srgbClr val="C9CDD4"/>
            </a:solidFill>
            <a:prstDash val="solid"/>
          </a:ln>
        </p:spPr>
      </p:sp>
      <p:sp>
        <p:nvSpPr>
          <p:cNvPr id="13" name="Shape 8"/>
          <p:cNvSpPr/>
          <p:nvPr/>
        </p:nvSpPr>
        <p:spPr>
          <a:xfrm>
            <a:off x="2285881" y="5064681"/>
            <a:ext cx="680442" cy="680442"/>
          </a:xfrm>
          <a:prstGeom prst="roundRect">
            <a:avLst>
              <a:gd name="adj" fmla="val 13436980"/>
            </a:avLst>
          </a:prstGeom>
          <a:solidFill>
            <a:srgbClr val="B05F44"/>
          </a:solidFill>
          <a:ln/>
        </p:spPr>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73047" y="5251728"/>
            <a:ext cx="306110" cy="306110"/>
          </a:xfrm>
          <a:prstGeom prst="rect">
            <a:avLst/>
          </a:prstGeom>
        </p:spPr>
      </p:pic>
      <p:sp>
        <p:nvSpPr>
          <p:cNvPr id="15" name="Text 9"/>
          <p:cNvSpPr/>
          <p:nvPr/>
        </p:nvSpPr>
        <p:spPr>
          <a:xfrm>
            <a:off x="1043464" y="5971937"/>
            <a:ext cx="3165396" cy="708660"/>
          </a:xfrm>
          <a:prstGeom prst="rect">
            <a:avLst/>
          </a:prstGeom>
          <a:noFill/>
          <a:ln/>
        </p:spPr>
        <p:txBody>
          <a:bodyPr wrap="squar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Auto-delegated, Session-wide</a:t>
            </a:r>
            <a:endParaRPr lang="en-US" sz="2200" dirty="0"/>
          </a:p>
        </p:txBody>
      </p:sp>
      <p:sp>
        <p:nvSpPr>
          <p:cNvPr id="16" name="Shape 10"/>
          <p:cNvSpPr/>
          <p:nvPr/>
        </p:nvSpPr>
        <p:spPr>
          <a:xfrm>
            <a:off x="4685348" y="4815007"/>
            <a:ext cx="3664863" cy="2614255"/>
          </a:xfrm>
          <a:prstGeom prst="roundRect">
            <a:avLst>
              <a:gd name="adj" fmla="val 350"/>
            </a:avLst>
          </a:prstGeom>
          <a:solidFill>
            <a:srgbClr val="E3E7EE"/>
          </a:solidFill>
          <a:ln w="22860">
            <a:solidFill>
              <a:srgbClr val="C9CDD4"/>
            </a:solidFill>
            <a:prstDash val="solid"/>
          </a:ln>
        </p:spPr>
      </p:sp>
      <p:sp>
        <p:nvSpPr>
          <p:cNvPr id="17" name="Shape 11"/>
          <p:cNvSpPr/>
          <p:nvPr/>
        </p:nvSpPr>
        <p:spPr>
          <a:xfrm>
            <a:off x="6177558" y="5064681"/>
            <a:ext cx="680442" cy="680442"/>
          </a:xfrm>
          <a:prstGeom prst="roundRect">
            <a:avLst>
              <a:gd name="adj" fmla="val 13436980"/>
            </a:avLst>
          </a:prstGeom>
          <a:solidFill>
            <a:srgbClr val="B05F44"/>
          </a:solidFill>
          <a:ln/>
        </p:spPr>
      </p:sp>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64724" y="5251728"/>
            <a:ext cx="306110" cy="306110"/>
          </a:xfrm>
          <a:prstGeom prst="rect">
            <a:avLst/>
          </a:prstGeom>
        </p:spPr>
      </p:pic>
      <p:sp>
        <p:nvSpPr>
          <p:cNvPr id="19" name="Text 12"/>
          <p:cNvSpPr/>
          <p:nvPr/>
        </p:nvSpPr>
        <p:spPr>
          <a:xfrm>
            <a:off x="5100161" y="5971937"/>
            <a:ext cx="2835235" cy="708660"/>
          </a:xfrm>
          <a:prstGeom prst="rect">
            <a:avLst/>
          </a:prstGeom>
          <a:noFill/>
          <a:ln/>
        </p:spPr>
        <p:txBody>
          <a:bodyPr wrap="square" lIns="0" tIns="0" rIns="0" bIns="0" rtlCol="0" anchor="t"/>
          <a:lstStyle/>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Built-in +</a:t>
            </a:r>
            <a:endParaRPr lang="en-US" sz="2200" dirty="0"/>
          </a:p>
          <a:p>
            <a:pPr algn="ctr" indent="0" marL="0">
              <a:lnSpc>
                <a:spcPts val="2750"/>
              </a:lnSpc>
              <a:buNone/>
            </a:pPr>
            <a:r>
              <a:rPr lang="en-US" sz="2200" dirty="0">
                <a:solidFill>
                  <a:srgbClr val="2D3436"/>
                </a:solidFill>
                <a:latin typeface="Roboto Mono Medium" pitchFamily="34" charset="0"/>
                <a:ea typeface="Roboto Mono Medium" pitchFamily="34" charset="-122"/>
                <a:cs typeface="Roboto Mono Medium" pitchFamily="34" charset="-120"/>
              </a:rPr>
              <a:t>Custom + Plugins</a:t>
            </a:r>
            <a:endParaRPr lang="en-US" sz="2200" dirty="0"/>
          </a:p>
        </p:txBody>
      </p:sp>
      <p:sp>
        <p:nvSpPr>
          <p:cNvPr id="20" name="Text 13"/>
          <p:cNvSpPr/>
          <p:nvPr/>
        </p:nvSpPr>
        <p:spPr>
          <a:xfrm>
            <a:off x="4935022" y="6816685"/>
            <a:ext cx="3165515" cy="362903"/>
          </a:xfrm>
          <a:prstGeom prst="rect">
            <a:avLst/>
          </a:prstGeom>
          <a:noFill/>
          <a:ln/>
        </p:spPr>
        <p:txBody>
          <a:bodyPr wrap="none" lIns="0" tIns="0" rIns="0" bIns="0" rtlCol="0" anchor="t"/>
          <a:lstStyle/>
          <a:p>
            <a:pPr algn="ctr" indent="0" marL="0">
              <a:lnSpc>
                <a:spcPts val="2850"/>
              </a:lnSpc>
              <a:buNone/>
            </a:pP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625691"/>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Coding Workflow</a:t>
            </a:r>
            <a:endParaRPr lang="en-US" sz="6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225040"/>
            <a:ext cx="3898702" cy="708779"/>
          </a:xfrm>
          <a:prstGeom prst="rect">
            <a:avLst/>
          </a:prstGeom>
          <a:noFill/>
          <a:ln/>
        </p:spPr>
        <p:txBody>
          <a:bodyPr wrap="none" lIns="0" tIns="0" rIns="0" bIns="0" rtlCol="0" anchor="t"/>
          <a:lstStyle/>
          <a:p>
            <a:pPr algn="r" indent="0" marL="0">
              <a:lnSpc>
                <a:spcPts val="5550"/>
              </a:lnSpc>
              <a:buNone/>
            </a:pPr>
            <a:r>
              <a:rPr lang="en-US" sz="4450" dirty="0">
                <a:solidFill>
                  <a:srgbClr val="2D3436"/>
                </a:solidFill>
                <a:latin typeface="Roboto Mono Medium" pitchFamily="34" charset="0"/>
                <a:ea typeface="Roboto Mono Medium" pitchFamily="34" charset="-122"/>
                <a:cs typeface="Roboto Mono Medium" pitchFamily="34" charset="-120"/>
              </a:rPr>
              <a:t>Plan</a:t>
            </a:r>
            <a:endParaRPr lang="en-US" sz="4450" dirty="0"/>
          </a:p>
        </p:txBody>
      </p:sp>
      <p:pic>
        <p:nvPicPr>
          <p:cNvPr id="3" name="Image 0" descr="preencoded.png">    </p:cNvPr>
          <p:cNvPicPr>
            <a:picLocks noChangeAspect="1"/>
          </p:cNvPicPr>
          <p:nvPr/>
        </p:nvPicPr>
        <p:blipFill>
          <a:blip r:embed="rId1"/>
          <a:stretch>
            <a:fillRect/>
          </a:stretch>
        </p:blipFill>
        <p:spPr>
          <a:xfrm>
            <a:off x="5032653" y="1523286"/>
            <a:ext cx="4564975" cy="4564975"/>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26731" y="2328743"/>
            <a:ext cx="339328" cy="339328"/>
          </a:xfrm>
          <a:prstGeom prst="rect">
            <a:avLst/>
          </a:prstGeom>
        </p:spPr>
      </p:pic>
      <p:sp>
        <p:nvSpPr>
          <p:cNvPr id="5" name="Text 1"/>
          <p:cNvSpPr/>
          <p:nvPr/>
        </p:nvSpPr>
        <p:spPr>
          <a:xfrm>
            <a:off x="9937790" y="2225040"/>
            <a:ext cx="3898821" cy="708779"/>
          </a:xfrm>
          <a:prstGeom prst="rect">
            <a:avLst/>
          </a:prstGeom>
          <a:noFill/>
          <a:ln/>
        </p:spPr>
        <p:txBody>
          <a:bodyPr wrap="none" lIns="0" tIns="0" rIns="0" bIns="0" rtlCol="0" anchor="t"/>
          <a:lstStyle/>
          <a:p>
            <a:pPr algn="l" indent="0" marL="0">
              <a:lnSpc>
                <a:spcPts val="5550"/>
              </a:lnSpc>
              <a:buNone/>
            </a:pPr>
            <a:r>
              <a:rPr lang="en-US" sz="4450" dirty="0">
                <a:solidFill>
                  <a:srgbClr val="2D3436"/>
                </a:solidFill>
                <a:latin typeface="Roboto Mono Medium" pitchFamily="34" charset="0"/>
                <a:ea typeface="Roboto Mono Medium" pitchFamily="34" charset="-122"/>
                <a:cs typeface="Roboto Mono Medium" pitchFamily="34" charset="-120"/>
              </a:rPr>
              <a:t>Code</a:t>
            </a:r>
            <a:endParaRPr lang="en-US" sz="4450" dirty="0"/>
          </a:p>
        </p:txBody>
      </p:sp>
      <p:pic>
        <p:nvPicPr>
          <p:cNvPr id="6" name="Image 2" descr="preencoded.png">    </p:cNvPr>
          <p:cNvPicPr>
            <a:picLocks noChangeAspect="1"/>
          </p:cNvPicPr>
          <p:nvPr/>
        </p:nvPicPr>
        <p:blipFill>
          <a:blip r:embed="rId4"/>
          <a:stretch>
            <a:fillRect/>
          </a:stretch>
        </p:blipFill>
        <p:spPr>
          <a:xfrm>
            <a:off x="5032653" y="1523286"/>
            <a:ext cx="4564975" cy="4564975"/>
          </a:xfrm>
          <a:prstGeom prst="rect">
            <a:avLst/>
          </a:prstGeom>
        </p:spPr>
      </p:pic>
      <p:pic>
        <p:nvPicPr>
          <p:cNvPr id="7"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52604" y="2717244"/>
            <a:ext cx="339328" cy="339328"/>
          </a:xfrm>
          <a:prstGeom prst="rect">
            <a:avLst/>
          </a:prstGeom>
        </p:spPr>
      </p:pic>
      <p:sp>
        <p:nvSpPr>
          <p:cNvPr id="8" name="Text 2"/>
          <p:cNvSpPr/>
          <p:nvPr/>
        </p:nvSpPr>
        <p:spPr>
          <a:xfrm>
            <a:off x="9937790" y="4677608"/>
            <a:ext cx="3898821" cy="708779"/>
          </a:xfrm>
          <a:prstGeom prst="rect">
            <a:avLst/>
          </a:prstGeom>
          <a:noFill/>
          <a:ln/>
        </p:spPr>
        <p:txBody>
          <a:bodyPr wrap="none" lIns="0" tIns="0" rIns="0" bIns="0" rtlCol="0" anchor="t"/>
          <a:lstStyle/>
          <a:p>
            <a:pPr algn="l" indent="0" marL="0">
              <a:lnSpc>
                <a:spcPts val="5550"/>
              </a:lnSpc>
              <a:buNone/>
            </a:pPr>
            <a:r>
              <a:rPr lang="en-US" sz="4450" dirty="0">
                <a:solidFill>
                  <a:srgbClr val="2D3436"/>
                </a:solidFill>
                <a:latin typeface="Roboto Mono Medium" pitchFamily="34" charset="0"/>
                <a:ea typeface="Roboto Mono Medium" pitchFamily="34" charset="-122"/>
                <a:cs typeface="Roboto Mono Medium" pitchFamily="34" charset="-120"/>
              </a:rPr>
              <a:t>Review</a:t>
            </a:r>
            <a:endParaRPr lang="en-US" sz="4450" dirty="0"/>
          </a:p>
        </p:txBody>
      </p:sp>
      <p:pic>
        <p:nvPicPr>
          <p:cNvPr id="9" name="Image 4" descr="preencoded.png">    </p:cNvPr>
          <p:cNvPicPr>
            <a:picLocks noChangeAspect="1"/>
          </p:cNvPicPr>
          <p:nvPr/>
        </p:nvPicPr>
        <p:blipFill>
          <a:blip r:embed="rId7"/>
          <a:stretch>
            <a:fillRect/>
          </a:stretch>
        </p:blipFill>
        <p:spPr>
          <a:xfrm>
            <a:off x="5032653" y="1523286"/>
            <a:ext cx="4564975" cy="4564975"/>
          </a:xfrm>
          <a:prstGeom prst="rect">
            <a:avLst/>
          </a:prstGeom>
        </p:spPr>
      </p:pic>
      <p:pic>
        <p:nvPicPr>
          <p:cNvPr id="10"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64103" y="4943118"/>
            <a:ext cx="339328" cy="339328"/>
          </a:xfrm>
          <a:prstGeom prst="rect">
            <a:avLst/>
          </a:prstGeom>
        </p:spPr>
      </p:pic>
      <p:sp>
        <p:nvSpPr>
          <p:cNvPr id="11" name="Text 3"/>
          <p:cNvSpPr/>
          <p:nvPr/>
        </p:nvSpPr>
        <p:spPr>
          <a:xfrm>
            <a:off x="793790" y="4677608"/>
            <a:ext cx="3898702" cy="708779"/>
          </a:xfrm>
          <a:prstGeom prst="rect">
            <a:avLst/>
          </a:prstGeom>
          <a:noFill/>
          <a:ln/>
        </p:spPr>
        <p:txBody>
          <a:bodyPr wrap="none" lIns="0" tIns="0" rIns="0" bIns="0" rtlCol="0" anchor="t"/>
          <a:lstStyle/>
          <a:p>
            <a:pPr algn="r" indent="0" marL="0">
              <a:lnSpc>
                <a:spcPts val="5550"/>
              </a:lnSpc>
              <a:buNone/>
            </a:pPr>
            <a:r>
              <a:rPr lang="en-US" sz="4450" dirty="0">
                <a:solidFill>
                  <a:srgbClr val="2D3436"/>
                </a:solidFill>
                <a:latin typeface="Roboto Mono Medium" pitchFamily="34" charset="0"/>
                <a:ea typeface="Roboto Mono Medium" pitchFamily="34" charset="-122"/>
                <a:cs typeface="Roboto Mono Medium" pitchFamily="34" charset="-120"/>
              </a:rPr>
              <a:t>Refine</a:t>
            </a:r>
            <a:endParaRPr lang="en-US" sz="4450" dirty="0"/>
          </a:p>
        </p:txBody>
      </p:sp>
      <p:pic>
        <p:nvPicPr>
          <p:cNvPr id="12" name="Image 6" descr="preencoded.png">    </p:cNvPr>
          <p:cNvPicPr>
            <a:picLocks noChangeAspect="1"/>
          </p:cNvPicPr>
          <p:nvPr/>
        </p:nvPicPr>
        <p:blipFill>
          <a:blip r:embed="rId10"/>
          <a:stretch>
            <a:fillRect/>
          </a:stretch>
        </p:blipFill>
        <p:spPr>
          <a:xfrm>
            <a:off x="5032653" y="1523286"/>
            <a:ext cx="4564975" cy="4564975"/>
          </a:xfrm>
          <a:prstGeom prst="rect">
            <a:avLst/>
          </a:prstGeom>
        </p:spPr>
      </p:pic>
      <p:pic>
        <p:nvPicPr>
          <p:cNvPr id="13"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38230" y="4554617"/>
            <a:ext cx="339328" cy="339328"/>
          </a:xfrm>
          <a:prstGeom prst="rect">
            <a:avLst/>
          </a:prstGeom>
        </p:spPr>
      </p:pic>
      <p:sp>
        <p:nvSpPr>
          <p:cNvPr id="14" name="Text 4"/>
          <p:cNvSpPr/>
          <p:nvPr/>
        </p:nvSpPr>
        <p:spPr>
          <a:xfrm>
            <a:off x="793790" y="6343412"/>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91277"/>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Plan Creation</a:t>
            </a:r>
            <a:endParaRPr lang="en-US" sz="6150" dirty="0"/>
          </a:p>
        </p:txBody>
      </p:sp>
      <p:sp>
        <p:nvSpPr>
          <p:cNvPr id="4" name="Shape 1"/>
          <p:cNvSpPr/>
          <p:nvPr/>
        </p:nvSpPr>
        <p:spPr>
          <a:xfrm>
            <a:off x="4556760" y="2009656"/>
            <a:ext cx="30480" cy="5528667"/>
          </a:xfrm>
          <a:prstGeom prst="roundRect">
            <a:avLst>
              <a:gd name="adj" fmla="val 30000"/>
            </a:avLst>
          </a:prstGeom>
          <a:solidFill>
            <a:srgbClr val="C9CDD4"/>
          </a:solidFill>
          <a:ln/>
        </p:spPr>
      </p:sp>
      <p:sp>
        <p:nvSpPr>
          <p:cNvPr id="5" name="Shape 2"/>
          <p:cNvSpPr/>
          <p:nvPr/>
        </p:nvSpPr>
        <p:spPr>
          <a:xfrm>
            <a:off x="4148852" y="2249567"/>
            <a:ext cx="453628" cy="30480"/>
          </a:xfrm>
          <a:prstGeom prst="roundRect">
            <a:avLst>
              <a:gd name="adj" fmla="val 30000"/>
            </a:avLst>
          </a:prstGeom>
          <a:solidFill>
            <a:srgbClr val="C9CDD4"/>
          </a:solidFill>
          <a:ln/>
        </p:spPr>
      </p:sp>
      <p:sp>
        <p:nvSpPr>
          <p:cNvPr id="6" name="Shape 3"/>
          <p:cNvSpPr/>
          <p:nvPr/>
        </p:nvSpPr>
        <p:spPr>
          <a:xfrm>
            <a:off x="4486989" y="2179796"/>
            <a:ext cx="170021" cy="170021"/>
          </a:xfrm>
          <a:prstGeom prst="roundRect">
            <a:avLst>
              <a:gd name="adj" fmla="val 268908"/>
            </a:avLst>
          </a:prstGeom>
          <a:solidFill>
            <a:srgbClr val="B05F44"/>
          </a:solidFill>
          <a:ln/>
        </p:spPr>
      </p:sp>
      <p:sp>
        <p:nvSpPr>
          <p:cNvPr id="7" name="Text 4"/>
          <p:cNvSpPr/>
          <p:nvPr/>
        </p:nvSpPr>
        <p:spPr>
          <a:xfrm>
            <a:off x="793790" y="2052161"/>
            <a:ext cx="2870954" cy="850583"/>
          </a:xfrm>
          <a:prstGeom prst="rect">
            <a:avLst/>
          </a:prstGeom>
          <a:noFill/>
          <a:ln/>
        </p:spPr>
        <p:txBody>
          <a:bodyPr wrap="square" lIns="0" tIns="0" rIns="0" bIns="0" rtlCol="0" anchor="t"/>
          <a:lstStyle/>
          <a:p>
            <a:pPr algn="r"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Human Gives Agent a Task</a:t>
            </a:r>
            <a:endParaRPr lang="en-US" sz="2650" dirty="0"/>
          </a:p>
        </p:txBody>
      </p:sp>
      <p:sp>
        <p:nvSpPr>
          <p:cNvPr id="8" name="Shape 5"/>
          <p:cNvSpPr/>
          <p:nvPr/>
        </p:nvSpPr>
        <p:spPr>
          <a:xfrm>
            <a:off x="4541520" y="3610451"/>
            <a:ext cx="453628" cy="30480"/>
          </a:xfrm>
          <a:prstGeom prst="roundRect">
            <a:avLst>
              <a:gd name="adj" fmla="val 30000"/>
            </a:avLst>
          </a:prstGeom>
          <a:solidFill>
            <a:srgbClr val="C9CDD4"/>
          </a:solidFill>
          <a:ln/>
        </p:spPr>
      </p:sp>
      <p:sp>
        <p:nvSpPr>
          <p:cNvPr id="9" name="Shape 6"/>
          <p:cNvSpPr/>
          <p:nvPr/>
        </p:nvSpPr>
        <p:spPr>
          <a:xfrm>
            <a:off x="4486989" y="3540681"/>
            <a:ext cx="170021" cy="170021"/>
          </a:xfrm>
          <a:prstGeom prst="roundRect">
            <a:avLst>
              <a:gd name="adj" fmla="val 268908"/>
            </a:avLst>
          </a:prstGeom>
          <a:solidFill>
            <a:srgbClr val="B05F44"/>
          </a:solidFill>
          <a:ln/>
        </p:spPr>
      </p:sp>
      <p:sp>
        <p:nvSpPr>
          <p:cNvPr id="10" name="Text 7"/>
          <p:cNvSpPr/>
          <p:nvPr/>
        </p:nvSpPr>
        <p:spPr>
          <a:xfrm>
            <a:off x="5479256" y="3413046"/>
            <a:ext cx="2870954" cy="1275874"/>
          </a:xfrm>
          <a:prstGeom prst="rect">
            <a:avLst/>
          </a:prstGeom>
          <a:noFill/>
          <a:ln/>
        </p:spPr>
        <p:txBody>
          <a:bodyPr wrap="squar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Agent Asks - Human Answers Open Questions</a:t>
            </a:r>
            <a:endParaRPr lang="en-US" sz="2650" dirty="0"/>
          </a:p>
        </p:txBody>
      </p:sp>
      <p:sp>
        <p:nvSpPr>
          <p:cNvPr id="11" name="Shape 8"/>
          <p:cNvSpPr/>
          <p:nvPr/>
        </p:nvSpPr>
        <p:spPr>
          <a:xfrm>
            <a:off x="4148852" y="4765715"/>
            <a:ext cx="453628" cy="30480"/>
          </a:xfrm>
          <a:prstGeom prst="roundRect">
            <a:avLst>
              <a:gd name="adj" fmla="val 30000"/>
            </a:avLst>
          </a:prstGeom>
          <a:solidFill>
            <a:srgbClr val="C9CDD4"/>
          </a:solidFill>
          <a:ln/>
        </p:spPr>
      </p:sp>
      <p:sp>
        <p:nvSpPr>
          <p:cNvPr id="12" name="Shape 9"/>
          <p:cNvSpPr/>
          <p:nvPr/>
        </p:nvSpPr>
        <p:spPr>
          <a:xfrm>
            <a:off x="4486989" y="4695944"/>
            <a:ext cx="170021" cy="170021"/>
          </a:xfrm>
          <a:prstGeom prst="roundRect">
            <a:avLst>
              <a:gd name="adj" fmla="val 268908"/>
            </a:avLst>
          </a:prstGeom>
          <a:solidFill>
            <a:srgbClr val="B05F44"/>
          </a:solidFill>
          <a:ln/>
        </p:spPr>
      </p:sp>
      <p:sp>
        <p:nvSpPr>
          <p:cNvPr id="13" name="Text 10"/>
          <p:cNvSpPr/>
          <p:nvPr/>
        </p:nvSpPr>
        <p:spPr>
          <a:xfrm>
            <a:off x="793790" y="4568309"/>
            <a:ext cx="2870954" cy="850583"/>
          </a:xfrm>
          <a:prstGeom prst="rect">
            <a:avLst/>
          </a:prstGeom>
          <a:noFill/>
          <a:ln/>
        </p:spPr>
        <p:txBody>
          <a:bodyPr wrap="square" lIns="0" tIns="0" rIns="0" bIns="0" rtlCol="0" anchor="t"/>
          <a:lstStyle/>
          <a:p>
            <a:pPr algn="r"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Agent Builds Initial Plan</a:t>
            </a:r>
            <a:endParaRPr lang="en-US" sz="2650" dirty="0"/>
          </a:p>
        </p:txBody>
      </p:sp>
      <p:sp>
        <p:nvSpPr>
          <p:cNvPr id="14" name="Shape 11"/>
          <p:cNvSpPr/>
          <p:nvPr/>
        </p:nvSpPr>
        <p:spPr>
          <a:xfrm>
            <a:off x="4541520" y="5921097"/>
            <a:ext cx="453628" cy="30480"/>
          </a:xfrm>
          <a:prstGeom prst="roundRect">
            <a:avLst>
              <a:gd name="adj" fmla="val 30000"/>
            </a:avLst>
          </a:prstGeom>
          <a:solidFill>
            <a:srgbClr val="C9CDD4"/>
          </a:solidFill>
          <a:ln/>
        </p:spPr>
      </p:sp>
      <p:sp>
        <p:nvSpPr>
          <p:cNvPr id="15" name="Shape 12"/>
          <p:cNvSpPr/>
          <p:nvPr/>
        </p:nvSpPr>
        <p:spPr>
          <a:xfrm>
            <a:off x="4486989" y="5851327"/>
            <a:ext cx="170021" cy="170021"/>
          </a:xfrm>
          <a:prstGeom prst="roundRect">
            <a:avLst>
              <a:gd name="adj" fmla="val 268908"/>
            </a:avLst>
          </a:prstGeom>
          <a:solidFill>
            <a:srgbClr val="B05F44"/>
          </a:solidFill>
          <a:ln/>
        </p:spPr>
      </p:sp>
      <p:sp>
        <p:nvSpPr>
          <p:cNvPr id="16" name="Text 13"/>
          <p:cNvSpPr/>
          <p:nvPr/>
        </p:nvSpPr>
        <p:spPr>
          <a:xfrm>
            <a:off x="5479256" y="5723692"/>
            <a:ext cx="2870954" cy="850583"/>
          </a:xfrm>
          <a:prstGeom prst="rect">
            <a:avLst/>
          </a:prstGeom>
          <a:noFill/>
          <a:ln/>
        </p:spPr>
        <p:txBody>
          <a:bodyPr wrap="squar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Agent do</a:t>
            </a:r>
            <a:endParaRPr lang="en-US" sz="2650" dirty="0"/>
          </a:p>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Self Review</a:t>
            </a:r>
            <a:endParaRPr lang="en-US" sz="2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133243"/>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Plan Review</a:t>
            </a:r>
            <a:endParaRPr lang="en-US" sz="6150" dirty="0"/>
          </a:p>
        </p:txBody>
      </p:sp>
      <p:sp>
        <p:nvSpPr>
          <p:cNvPr id="4" name="Text 1"/>
          <p:cNvSpPr/>
          <p:nvPr/>
        </p:nvSpPr>
        <p:spPr>
          <a:xfrm>
            <a:off x="793790" y="3496151"/>
            <a:ext cx="2115622" cy="1275874"/>
          </a:xfrm>
          <a:prstGeom prst="rect">
            <a:avLst/>
          </a:prstGeom>
          <a:noFill/>
          <a:ln/>
        </p:spPr>
        <p:txBody>
          <a:bodyPr wrap="square" lIns="0" tIns="0" rIns="0" bIns="0" rtlCol="0" anchor="t"/>
          <a:lstStyle/>
          <a:p>
            <a:pPr algn="r"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Human Instructs Review</a:t>
            </a:r>
            <a:endParaRPr lang="en-US" sz="2650" dirty="0"/>
          </a:p>
        </p:txBody>
      </p:sp>
      <p:pic>
        <p:nvPicPr>
          <p:cNvPr id="5" name="Image 1" descr="preencoded.png">    </p:cNvPr>
          <p:cNvPicPr>
            <a:picLocks noChangeAspect="1"/>
          </p:cNvPicPr>
          <p:nvPr/>
        </p:nvPicPr>
        <p:blipFill>
          <a:blip r:embed="rId2"/>
          <a:stretch>
            <a:fillRect/>
          </a:stretch>
        </p:blipFill>
        <p:spPr>
          <a:xfrm>
            <a:off x="3249573" y="3451622"/>
            <a:ext cx="2644735" cy="2644735"/>
          </a:xfrm>
          <a:prstGeom prst="rect">
            <a:avLst/>
          </a:prstGeom>
        </p:spPr>
      </p:pic>
      <p:pic>
        <p:nvPicPr>
          <p:cNvPr id="6"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70008" y="3846790"/>
            <a:ext cx="339328" cy="339328"/>
          </a:xfrm>
          <a:prstGeom prst="rect">
            <a:avLst/>
          </a:prstGeom>
        </p:spPr>
      </p:pic>
      <p:sp>
        <p:nvSpPr>
          <p:cNvPr id="7" name="Text 2"/>
          <p:cNvSpPr/>
          <p:nvPr/>
        </p:nvSpPr>
        <p:spPr>
          <a:xfrm>
            <a:off x="6234470" y="3708797"/>
            <a:ext cx="2115741" cy="850583"/>
          </a:xfrm>
          <a:prstGeom prst="rect">
            <a:avLst/>
          </a:prstGeom>
          <a:noFill/>
          <a:ln/>
        </p:spPr>
        <p:txBody>
          <a:bodyPr wrap="squar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AI Shows Findings</a:t>
            </a:r>
            <a:endParaRPr lang="en-US" sz="2650" dirty="0"/>
          </a:p>
        </p:txBody>
      </p:sp>
      <p:pic>
        <p:nvPicPr>
          <p:cNvPr id="8" name="Image 3" descr="preencoded.png">    </p:cNvPr>
          <p:cNvPicPr>
            <a:picLocks noChangeAspect="1"/>
          </p:cNvPicPr>
          <p:nvPr/>
        </p:nvPicPr>
        <p:blipFill>
          <a:blip r:embed="rId5"/>
          <a:stretch>
            <a:fillRect/>
          </a:stretch>
        </p:blipFill>
        <p:spPr>
          <a:xfrm>
            <a:off x="3249573" y="3451622"/>
            <a:ext cx="2644735" cy="2644735"/>
          </a:xfrm>
          <a:prstGeom prst="rect">
            <a:avLst/>
          </a:prstGeom>
        </p:spPr>
      </p:pic>
      <p:pic>
        <p:nvPicPr>
          <p:cNvPr id="9"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59573" y="4071937"/>
            <a:ext cx="339328" cy="339328"/>
          </a:xfrm>
          <a:prstGeom prst="rect">
            <a:avLst/>
          </a:prstGeom>
        </p:spPr>
      </p:pic>
      <p:sp>
        <p:nvSpPr>
          <p:cNvPr id="10" name="Text 3"/>
          <p:cNvSpPr/>
          <p:nvPr/>
        </p:nvSpPr>
        <p:spPr>
          <a:xfrm>
            <a:off x="6234470" y="5201245"/>
            <a:ext cx="2115741" cy="850583"/>
          </a:xfrm>
          <a:prstGeom prst="rect">
            <a:avLst/>
          </a:prstGeom>
          <a:noFill/>
          <a:ln/>
        </p:spPr>
        <p:txBody>
          <a:bodyPr wrap="squar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Human Decides</a:t>
            </a:r>
            <a:endParaRPr lang="en-US" sz="2650" dirty="0"/>
          </a:p>
        </p:txBody>
      </p:sp>
      <p:pic>
        <p:nvPicPr>
          <p:cNvPr id="11" name="Image 5" descr="preencoded.png">    </p:cNvPr>
          <p:cNvPicPr>
            <a:picLocks noChangeAspect="1"/>
          </p:cNvPicPr>
          <p:nvPr/>
        </p:nvPicPr>
        <p:blipFill>
          <a:blip r:embed="rId8"/>
          <a:stretch>
            <a:fillRect/>
          </a:stretch>
        </p:blipFill>
        <p:spPr>
          <a:xfrm>
            <a:off x="3249573" y="3451622"/>
            <a:ext cx="2644735" cy="2644735"/>
          </a:xfrm>
          <a:prstGeom prst="rect">
            <a:avLst/>
          </a:prstGeom>
        </p:spPr>
      </p:pic>
      <p:pic>
        <p:nvPicPr>
          <p:cNvPr id="12"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34426" y="5361503"/>
            <a:ext cx="339328" cy="339328"/>
          </a:xfrm>
          <a:prstGeom prst="rect">
            <a:avLst/>
          </a:prstGeom>
        </p:spPr>
      </p:pic>
      <p:sp>
        <p:nvSpPr>
          <p:cNvPr id="13" name="Text 4"/>
          <p:cNvSpPr/>
          <p:nvPr/>
        </p:nvSpPr>
        <p:spPr>
          <a:xfrm>
            <a:off x="793790" y="5201245"/>
            <a:ext cx="2115622" cy="850583"/>
          </a:xfrm>
          <a:prstGeom prst="rect">
            <a:avLst/>
          </a:prstGeom>
          <a:noFill/>
          <a:ln/>
        </p:spPr>
        <p:txBody>
          <a:bodyPr wrap="square" lIns="0" tIns="0" rIns="0" bIns="0" rtlCol="0" anchor="t"/>
          <a:lstStyle/>
          <a:p>
            <a:pPr algn="r"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AI Fixes Issues</a:t>
            </a:r>
            <a:endParaRPr lang="en-US" sz="2650" dirty="0"/>
          </a:p>
        </p:txBody>
      </p:sp>
      <p:pic>
        <p:nvPicPr>
          <p:cNvPr id="14" name="Image 7" descr="preencoded.png">    </p:cNvPr>
          <p:cNvPicPr>
            <a:picLocks noChangeAspect="1"/>
          </p:cNvPicPr>
          <p:nvPr/>
        </p:nvPicPr>
        <p:blipFill>
          <a:blip r:embed="rId11"/>
          <a:stretch>
            <a:fillRect/>
          </a:stretch>
        </p:blipFill>
        <p:spPr>
          <a:xfrm>
            <a:off x="3249573" y="3451622"/>
            <a:ext cx="2644735" cy="2644735"/>
          </a:xfrm>
          <a:prstGeom prst="rect">
            <a:avLst/>
          </a:prstGeom>
        </p:spPr>
      </p:pic>
      <p:pic>
        <p:nvPicPr>
          <p:cNvPr id="15" name="Image 8"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644860" y="5136356"/>
            <a:ext cx="339328" cy="3393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088350"/>
            <a:ext cx="7556421" cy="978218"/>
          </a:xfrm>
          <a:prstGeom prst="rect">
            <a:avLst/>
          </a:prstGeom>
          <a:noFill/>
          <a:ln/>
        </p:spPr>
        <p:txBody>
          <a:bodyPr wrap="none" lIns="0" tIns="0" rIns="0" bIns="0" rtlCol="0" anchor="t"/>
          <a:lstStyle/>
          <a:p>
            <a:pPr algn="l" indent="0" marL="0">
              <a:lnSpc>
                <a:spcPts val="7700"/>
              </a:lnSpc>
              <a:buNone/>
            </a:pPr>
            <a:r>
              <a:rPr lang="en-US" sz="6150" dirty="0">
                <a:solidFill>
                  <a:srgbClr val="2D3436"/>
                </a:solidFill>
                <a:latin typeface="Roboto Mono Medium" pitchFamily="34" charset="0"/>
                <a:ea typeface="Roboto Mono Medium" pitchFamily="34" charset="-122"/>
                <a:cs typeface="Roboto Mono Medium" pitchFamily="34" charset="-120"/>
              </a:rPr>
              <a:t>Superpowers</a:t>
            </a:r>
            <a:endParaRPr lang="en-US" sz="61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80190" y="2406729"/>
            <a:ext cx="566976" cy="566976"/>
          </a:xfrm>
          <a:prstGeom prst="rect">
            <a:avLst/>
          </a:prstGeom>
        </p:spPr>
      </p:pic>
      <p:sp>
        <p:nvSpPr>
          <p:cNvPr id="5" name="Text 1"/>
          <p:cNvSpPr/>
          <p:nvPr/>
        </p:nvSpPr>
        <p:spPr>
          <a:xfrm>
            <a:off x="6280190" y="3257193"/>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Brainstorming</a:t>
            </a:r>
            <a:endParaRPr lang="en-US" sz="26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0190" y="4136112"/>
            <a:ext cx="566976" cy="566976"/>
          </a:xfrm>
          <a:prstGeom prst="rect">
            <a:avLst/>
          </a:prstGeom>
        </p:spPr>
      </p:pic>
      <p:sp>
        <p:nvSpPr>
          <p:cNvPr id="7" name="Text 2"/>
          <p:cNvSpPr/>
          <p:nvPr/>
        </p:nvSpPr>
        <p:spPr>
          <a:xfrm>
            <a:off x="6280190" y="4986576"/>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Writing-Plans</a:t>
            </a:r>
            <a:endParaRPr lang="en-US" sz="26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0190" y="5865495"/>
            <a:ext cx="566976" cy="566976"/>
          </a:xfrm>
          <a:prstGeom prst="rect">
            <a:avLst/>
          </a:prstGeom>
        </p:spPr>
      </p:pic>
      <p:sp>
        <p:nvSpPr>
          <p:cNvPr id="9" name="Text 3"/>
          <p:cNvSpPr/>
          <p:nvPr/>
        </p:nvSpPr>
        <p:spPr>
          <a:xfrm>
            <a:off x="6280190" y="6715958"/>
            <a:ext cx="4082653"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Systematic-Debugging</a:t>
            </a:r>
            <a:endParaRPr lang="en-US" sz="2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67001"/>
            <a:ext cx="11574423" cy="831413"/>
          </a:xfrm>
          <a:prstGeom prst="rect">
            <a:avLst/>
          </a:prstGeom>
          <a:noFill/>
          <a:ln/>
        </p:spPr>
        <p:txBody>
          <a:bodyPr wrap="none" lIns="0" tIns="0" rIns="0" bIns="0" rtlCol="0" anchor="t"/>
          <a:lstStyle/>
          <a:p>
            <a:pPr algn="l" indent="0" marL="0">
              <a:lnSpc>
                <a:spcPts val="6500"/>
              </a:lnSpc>
              <a:buNone/>
            </a:pPr>
            <a:r>
              <a:rPr lang="en-US" sz="5200" dirty="0">
                <a:solidFill>
                  <a:srgbClr val="2D3436"/>
                </a:solidFill>
                <a:latin typeface="Roboto Mono Medium" pitchFamily="34" charset="0"/>
                <a:ea typeface="Roboto Mono Medium" pitchFamily="34" charset="-122"/>
                <a:cs typeface="Roboto Mono Medium" pitchFamily="34" charset="-120"/>
              </a:rPr>
              <a:t>Full SDLC Automation Workflow</a:t>
            </a:r>
            <a:endParaRPr lang="en-US" sz="5200" dirty="0"/>
          </a:p>
        </p:txBody>
      </p:sp>
      <p:sp>
        <p:nvSpPr>
          <p:cNvPr id="3" name="Shape 1"/>
          <p:cNvSpPr/>
          <p:nvPr/>
        </p:nvSpPr>
        <p:spPr>
          <a:xfrm>
            <a:off x="7303770" y="1926074"/>
            <a:ext cx="22860" cy="5536525"/>
          </a:xfrm>
          <a:prstGeom prst="roundRect">
            <a:avLst>
              <a:gd name="adj" fmla="val 40000"/>
            </a:avLst>
          </a:prstGeom>
          <a:solidFill>
            <a:srgbClr val="C9CDD4"/>
          </a:solidFill>
          <a:ln/>
        </p:spPr>
      </p:sp>
      <p:sp>
        <p:nvSpPr>
          <p:cNvPr id="4" name="Shape 2"/>
          <p:cNvSpPr/>
          <p:nvPr/>
        </p:nvSpPr>
        <p:spPr>
          <a:xfrm>
            <a:off x="6952536" y="2131457"/>
            <a:ext cx="385524" cy="22860"/>
          </a:xfrm>
          <a:prstGeom prst="roundRect">
            <a:avLst>
              <a:gd name="adj" fmla="val 40000"/>
            </a:avLst>
          </a:prstGeom>
          <a:solidFill>
            <a:srgbClr val="C9CDD4"/>
          </a:solidFill>
          <a:ln/>
        </p:spPr>
      </p:sp>
      <p:sp>
        <p:nvSpPr>
          <p:cNvPr id="5" name="Shape 3"/>
          <p:cNvSpPr/>
          <p:nvPr/>
        </p:nvSpPr>
        <p:spPr>
          <a:xfrm>
            <a:off x="7242929" y="2070616"/>
            <a:ext cx="144542" cy="144542"/>
          </a:xfrm>
          <a:prstGeom prst="roundRect">
            <a:avLst>
              <a:gd name="adj" fmla="val 316309"/>
            </a:avLst>
          </a:prstGeom>
          <a:solidFill>
            <a:srgbClr val="B05F44"/>
          </a:solidFill>
          <a:ln/>
        </p:spPr>
      </p:sp>
      <p:sp>
        <p:nvSpPr>
          <p:cNvPr id="6" name="Text 4"/>
          <p:cNvSpPr/>
          <p:nvPr/>
        </p:nvSpPr>
        <p:spPr>
          <a:xfrm>
            <a:off x="2033588" y="1962150"/>
            <a:ext cx="4510445" cy="361474"/>
          </a:xfrm>
          <a:prstGeom prst="rect">
            <a:avLst/>
          </a:prstGeom>
          <a:noFill/>
          <a:ln/>
        </p:spPr>
        <p:txBody>
          <a:bodyPr wrap="none" lIns="0" tIns="0" rIns="0" bIns="0" rtlCol="0" anchor="t"/>
          <a:lstStyle/>
          <a:p>
            <a:pPr algn="r" indent="0" marL="0">
              <a:lnSpc>
                <a:spcPts val="2800"/>
              </a:lnSpc>
              <a:buNone/>
            </a:pPr>
            <a:r>
              <a:rPr lang="en-US" sz="2250" dirty="0">
                <a:solidFill>
                  <a:srgbClr val="2D3436"/>
                </a:solidFill>
                <a:latin typeface="Roboto Mono Medium" pitchFamily="34" charset="0"/>
                <a:ea typeface="Roboto Mono Medium" pitchFamily="34" charset="-122"/>
                <a:cs typeface="Roboto Mono Medium" pitchFamily="34" charset="-120"/>
              </a:rPr>
              <a:t>Create GIT Branch/Worktree</a:t>
            </a:r>
            <a:endParaRPr lang="en-US" sz="2250" dirty="0"/>
          </a:p>
        </p:txBody>
      </p:sp>
      <p:sp>
        <p:nvSpPr>
          <p:cNvPr id="7" name="Shape 5"/>
          <p:cNvSpPr/>
          <p:nvPr/>
        </p:nvSpPr>
        <p:spPr>
          <a:xfrm>
            <a:off x="7292340" y="3230285"/>
            <a:ext cx="385524" cy="22860"/>
          </a:xfrm>
          <a:prstGeom prst="roundRect">
            <a:avLst>
              <a:gd name="adj" fmla="val 40000"/>
            </a:avLst>
          </a:prstGeom>
          <a:solidFill>
            <a:srgbClr val="C9CDD4"/>
          </a:solidFill>
          <a:ln/>
        </p:spPr>
      </p:sp>
      <p:sp>
        <p:nvSpPr>
          <p:cNvPr id="8" name="Shape 6"/>
          <p:cNvSpPr/>
          <p:nvPr/>
        </p:nvSpPr>
        <p:spPr>
          <a:xfrm>
            <a:off x="7242929" y="3169444"/>
            <a:ext cx="144542" cy="144542"/>
          </a:xfrm>
          <a:prstGeom prst="roundRect">
            <a:avLst>
              <a:gd name="adj" fmla="val 316309"/>
            </a:avLst>
          </a:prstGeom>
          <a:solidFill>
            <a:srgbClr val="B05F44"/>
          </a:solidFill>
          <a:ln/>
        </p:spPr>
      </p:sp>
      <p:sp>
        <p:nvSpPr>
          <p:cNvPr id="9" name="Text 7"/>
          <p:cNvSpPr/>
          <p:nvPr/>
        </p:nvSpPr>
        <p:spPr>
          <a:xfrm>
            <a:off x="8086368" y="3060978"/>
            <a:ext cx="3816548" cy="361474"/>
          </a:xfrm>
          <a:prstGeom prst="rect">
            <a:avLst/>
          </a:prstGeom>
          <a:noFill/>
          <a:ln/>
        </p:spPr>
        <p:txBody>
          <a:bodyPr wrap="none" lIns="0" tIns="0" rIns="0" bIns="0" rtlCol="0" anchor="t"/>
          <a:lstStyle/>
          <a:p>
            <a:pPr algn="l" indent="0" marL="0">
              <a:lnSpc>
                <a:spcPts val="2800"/>
              </a:lnSpc>
              <a:buNone/>
            </a:pPr>
            <a:r>
              <a:rPr lang="en-US" sz="2250" dirty="0">
                <a:solidFill>
                  <a:srgbClr val="2D3436"/>
                </a:solidFill>
                <a:latin typeface="Roboto Mono Medium" pitchFamily="34" charset="0"/>
                <a:ea typeface="Roboto Mono Medium" pitchFamily="34" charset="-122"/>
                <a:cs typeface="Roboto Mono Medium" pitchFamily="34" charset="-120"/>
              </a:rPr>
              <a:t>Generate &amp; Review Plan</a:t>
            </a:r>
            <a:endParaRPr lang="en-US" sz="2250" dirty="0"/>
          </a:p>
        </p:txBody>
      </p:sp>
      <p:sp>
        <p:nvSpPr>
          <p:cNvPr id="10" name="Shape 8"/>
          <p:cNvSpPr/>
          <p:nvPr/>
        </p:nvSpPr>
        <p:spPr>
          <a:xfrm>
            <a:off x="6952536" y="4183261"/>
            <a:ext cx="385524" cy="22860"/>
          </a:xfrm>
          <a:prstGeom prst="roundRect">
            <a:avLst>
              <a:gd name="adj" fmla="val 40000"/>
            </a:avLst>
          </a:prstGeom>
          <a:solidFill>
            <a:srgbClr val="C9CDD4"/>
          </a:solidFill>
          <a:ln/>
        </p:spPr>
      </p:sp>
      <p:sp>
        <p:nvSpPr>
          <p:cNvPr id="11" name="Shape 9"/>
          <p:cNvSpPr/>
          <p:nvPr/>
        </p:nvSpPr>
        <p:spPr>
          <a:xfrm>
            <a:off x="7242929" y="4122420"/>
            <a:ext cx="144542" cy="144542"/>
          </a:xfrm>
          <a:prstGeom prst="roundRect">
            <a:avLst>
              <a:gd name="adj" fmla="val 316309"/>
            </a:avLst>
          </a:prstGeom>
          <a:solidFill>
            <a:srgbClr val="B05F44"/>
          </a:solidFill>
          <a:ln/>
        </p:spPr>
      </p:sp>
      <p:sp>
        <p:nvSpPr>
          <p:cNvPr id="12" name="Text 10"/>
          <p:cNvSpPr/>
          <p:nvPr/>
        </p:nvSpPr>
        <p:spPr>
          <a:xfrm>
            <a:off x="3421380" y="4013954"/>
            <a:ext cx="3122652" cy="361474"/>
          </a:xfrm>
          <a:prstGeom prst="rect">
            <a:avLst/>
          </a:prstGeom>
          <a:noFill/>
          <a:ln/>
        </p:spPr>
        <p:txBody>
          <a:bodyPr wrap="none" lIns="0" tIns="0" rIns="0" bIns="0" rtlCol="0" anchor="t"/>
          <a:lstStyle/>
          <a:p>
            <a:pPr algn="r" indent="0" marL="0">
              <a:lnSpc>
                <a:spcPts val="2800"/>
              </a:lnSpc>
              <a:buNone/>
            </a:pPr>
            <a:r>
              <a:rPr lang="en-US" sz="2250" dirty="0">
                <a:solidFill>
                  <a:srgbClr val="2D3436"/>
                </a:solidFill>
                <a:latin typeface="Roboto Mono Medium" pitchFamily="34" charset="0"/>
                <a:ea typeface="Roboto Mono Medium" pitchFamily="34" charset="-122"/>
                <a:cs typeface="Roboto Mono Medium" pitchFamily="34" charset="-120"/>
              </a:rPr>
              <a:t>Implement with TDD</a:t>
            </a:r>
            <a:endParaRPr lang="en-US" sz="2250" dirty="0"/>
          </a:p>
        </p:txBody>
      </p:sp>
      <p:sp>
        <p:nvSpPr>
          <p:cNvPr id="13" name="Shape 11"/>
          <p:cNvSpPr/>
          <p:nvPr/>
        </p:nvSpPr>
        <p:spPr>
          <a:xfrm>
            <a:off x="7292340" y="5136356"/>
            <a:ext cx="385524" cy="22860"/>
          </a:xfrm>
          <a:prstGeom prst="roundRect">
            <a:avLst>
              <a:gd name="adj" fmla="val 40000"/>
            </a:avLst>
          </a:prstGeom>
          <a:solidFill>
            <a:srgbClr val="C9CDD4"/>
          </a:solidFill>
          <a:ln/>
        </p:spPr>
      </p:sp>
      <p:sp>
        <p:nvSpPr>
          <p:cNvPr id="14" name="Shape 12"/>
          <p:cNvSpPr/>
          <p:nvPr/>
        </p:nvSpPr>
        <p:spPr>
          <a:xfrm>
            <a:off x="7242929" y="5075515"/>
            <a:ext cx="144542" cy="144542"/>
          </a:xfrm>
          <a:prstGeom prst="roundRect">
            <a:avLst>
              <a:gd name="adj" fmla="val 316309"/>
            </a:avLst>
          </a:prstGeom>
          <a:solidFill>
            <a:srgbClr val="B05F44"/>
          </a:solidFill>
          <a:ln/>
        </p:spPr>
      </p:sp>
      <p:sp>
        <p:nvSpPr>
          <p:cNvPr id="15" name="Text 13"/>
          <p:cNvSpPr/>
          <p:nvPr/>
        </p:nvSpPr>
        <p:spPr>
          <a:xfrm>
            <a:off x="8086368" y="4967049"/>
            <a:ext cx="2892028" cy="361474"/>
          </a:xfrm>
          <a:prstGeom prst="rect">
            <a:avLst/>
          </a:prstGeom>
          <a:noFill/>
          <a:ln/>
        </p:spPr>
        <p:txBody>
          <a:bodyPr wrap="none" lIns="0" tIns="0" rIns="0" bIns="0" rtlCol="0" anchor="t"/>
          <a:lstStyle/>
          <a:p>
            <a:pPr algn="l" indent="0" marL="0">
              <a:lnSpc>
                <a:spcPts val="2800"/>
              </a:lnSpc>
              <a:buNone/>
            </a:pPr>
            <a:r>
              <a:rPr lang="en-US" sz="2250" dirty="0">
                <a:solidFill>
                  <a:srgbClr val="2D3436"/>
                </a:solidFill>
                <a:latin typeface="Roboto Mono Medium" pitchFamily="34" charset="0"/>
                <a:ea typeface="Roboto Mono Medium" pitchFamily="34" charset="-122"/>
                <a:cs typeface="Roboto Mono Medium" pitchFamily="34" charset="-120"/>
              </a:rPr>
              <a:t>Run Verification</a:t>
            </a:r>
            <a:endParaRPr lang="en-US" sz="2250" dirty="0"/>
          </a:p>
        </p:txBody>
      </p:sp>
      <p:sp>
        <p:nvSpPr>
          <p:cNvPr id="16" name="Shape 14"/>
          <p:cNvSpPr/>
          <p:nvPr/>
        </p:nvSpPr>
        <p:spPr>
          <a:xfrm>
            <a:off x="6952536" y="6089452"/>
            <a:ext cx="385524" cy="22860"/>
          </a:xfrm>
          <a:prstGeom prst="roundRect">
            <a:avLst>
              <a:gd name="adj" fmla="val 40000"/>
            </a:avLst>
          </a:prstGeom>
          <a:solidFill>
            <a:srgbClr val="C9CDD4"/>
          </a:solidFill>
          <a:ln/>
        </p:spPr>
      </p:sp>
      <p:sp>
        <p:nvSpPr>
          <p:cNvPr id="17" name="Shape 15"/>
          <p:cNvSpPr/>
          <p:nvPr/>
        </p:nvSpPr>
        <p:spPr>
          <a:xfrm>
            <a:off x="7242929" y="6028611"/>
            <a:ext cx="144542" cy="144542"/>
          </a:xfrm>
          <a:prstGeom prst="roundRect">
            <a:avLst>
              <a:gd name="adj" fmla="val 316309"/>
            </a:avLst>
          </a:prstGeom>
          <a:solidFill>
            <a:srgbClr val="B05F44"/>
          </a:solidFill>
          <a:ln/>
        </p:spPr>
      </p:sp>
      <p:sp>
        <p:nvSpPr>
          <p:cNvPr id="18" name="Text 16"/>
          <p:cNvSpPr/>
          <p:nvPr/>
        </p:nvSpPr>
        <p:spPr>
          <a:xfrm>
            <a:off x="3652004" y="5920145"/>
            <a:ext cx="2892028" cy="361474"/>
          </a:xfrm>
          <a:prstGeom prst="rect">
            <a:avLst/>
          </a:prstGeom>
          <a:noFill/>
          <a:ln/>
        </p:spPr>
        <p:txBody>
          <a:bodyPr wrap="none" lIns="0" tIns="0" rIns="0" bIns="0" rtlCol="0" anchor="t"/>
          <a:lstStyle/>
          <a:p>
            <a:pPr algn="r" indent="0" marL="0">
              <a:lnSpc>
                <a:spcPts val="2800"/>
              </a:lnSpc>
              <a:buNone/>
            </a:pPr>
            <a:r>
              <a:rPr lang="en-US" sz="2250" dirty="0">
                <a:solidFill>
                  <a:srgbClr val="2D3436"/>
                </a:solidFill>
                <a:latin typeface="Roboto Mono Medium" pitchFamily="34" charset="0"/>
                <a:ea typeface="Roboto Mono Medium" pitchFamily="34" charset="-122"/>
                <a:cs typeface="Roboto Mono Medium" pitchFamily="34" charset="-120"/>
              </a:rPr>
              <a:t>Submit PR</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184928" y="623768"/>
            <a:ext cx="6260425" cy="782479"/>
          </a:xfrm>
          <a:prstGeom prst="rect">
            <a:avLst/>
          </a:prstGeom>
          <a:noFill/>
          <a:ln/>
        </p:spPr>
        <p:txBody>
          <a:bodyPr wrap="none" lIns="0" tIns="0" rIns="0" bIns="0" rtlCol="0" anchor="t"/>
          <a:lstStyle/>
          <a:p>
            <a:pPr algn="ctr" indent="0" marL="0">
              <a:lnSpc>
                <a:spcPts val="6150"/>
              </a:lnSpc>
              <a:buNone/>
            </a:pPr>
            <a:r>
              <a:rPr lang="en-US" sz="4900" b="1" dirty="0">
                <a:solidFill>
                  <a:srgbClr val="2D3436"/>
                </a:solidFill>
                <a:latin typeface="Roboto Mono Medium" pitchFamily="34" charset="0"/>
                <a:ea typeface="Roboto Mono Medium" pitchFamily="34" charset="-122"/>
                <a:cs typeface="Roboto Mono Medium" pitchFamily="34" charset="-120"/>
              </a:rPr>
              <a:t>worca</a:t>
            </a:r>
            <a:endParaRPr lang="en-US" sz="4900" dirty="0"/>
          </a:p>
        </p:txBody>
      </p:sp>
      <p:sp>
        <p:nvSpPr>
          <p:cNvPr id="3" name="Text 1"/>
          <p:cNvSpPr/>
          <p:nvPr/>
        </p:nvSpPr>
        <p:spPr>
          <a:xfrm>
            <a:off x="4048482" y="1623893"/>
            <a:ext cx="6533317" cy="340162"/>
          </a:xfrm>
          <a:prstGeom prst="rect">
            <a:avLst/>
          </a:prstGeom>
          <a:noFill/>
          <a:ln/>
        </p:spPr>
        <p:txBody>
          <a:bodyPr wrap="none" lIns="0" tIns="0" rIns="0" bIns="0" rtlCol="0" anchor="t"/>
          <a:lstStyle/>
          <a:p>
            <a:pPr algn="ctr" indent="0" marL="0">
              <a:lnSpc>
                <a:spcPts val="2650"/>
              </a:lnSpc>
              <a:buNone/>
            </a:pPr>
            <a:r>
              <a:rPr lang="en-US" sz="2100" b="1" dirty="0">
                <a:solidFill>
                  <a:srgbClr val="2D3436"/>
                </a:solidFill>
                <a:latin typeface="Roboto Mono Medium" pitchFamily="34" charset="0"/>
                <a:ea typeface="Roboto Mono Medium" pitchFamily="34" charset="-122"/>
                <a:cs typeface="Roboto Mono Medium" pitchFamily="34" charset="-120"/>
              </a:rPr>
              <a:t>Autonomous Software Development Pipeline</a:t>
            </a:r>
            <a:endParaRPr lang="en-US" sz="2100" dirty="0"/>
          </a:p>
        </p:txBody>
      </p:sp>
      <p:pic>
        <p:nvPicPr>
          <p:cNvPr id="4" name="Image 0" descr="preencoded.png">    </p:cNvPr>
          <p:cNvPicPr>
            <a:picLocks noChangeAspect="1"/>
          </p:cNvPicPr>
          <p:nvPr/>
        </p:nvPicPr>
        <p:blipFill>
          <a:blip r:embed="rId1"/>
          <a:stretch>
            <a:fillRect/>
          </a:stretch>
        </p:blipFill>
        <p:spPr>
          <a:xfrm>
            <a:off x="2098119" y="2181701"/>
            <a:ext cx="10434161" cy="54256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251109"/>
            <a:ext cx="8165783" cy="708779"/>
          </a:xfrm>
          <a:prstGeom prst="rect">
            <a:avLst/>
          </a:prstGeom>
          <a:noFill/>
          <a:ln/>
        </p:spPr>
        <p:txBody>
          <a:bodyPr wrap="none" lIns="0" tIns="0" rIns="0" bIns="0" rtlCol="0" anchor="t"/>
          <a:lstStyle/>
          <a:p>
            <a:pPr algn="l" indent="0" marL="0">
              <a:lnSpc>
                <a:spcPts val="5550"/>
              </a:lnSpc>
              <a:buNone/>
            </a:pPr>
            <a:r>
              <a:rPr lang="en-US" sz="4450" dirty="0">
                <a:solidFill>
                  <a:srgbClr val="2D3436"/>
                </a:solidFill>
                <a:latin typeface="Roboto Mono Medium" pitchFamily="34" charset="0"/>
                <a:ea typeface="Roboto Mono Medium" pitchFamily="34" charset="-122"/>
                <a:cs typeface="Roboto Mono Medium" pitchFamily="34" charset="-120"/>
              </a:rPr>
              <a:t>TDD - Red-Green-Refactor</a:t>
            </a:r>
            <a:endParaRPr lang="en-US" sz="4450" dirty="0"/>
          </a:p>
        </p:txBody>
      </p:sp>
      <p:sp>
        <p:nvSpPr>
          <p:cNvPr id="3" name="Text 1"/>
          <p:cNvSpPr/>
          <p:nvPr/>
        </p:nvSpPr>
        <p:spPr>
          <a:xfrm>
            <a:off x="793790" y="4117657"/>
            <a:ext cx="3785235" cy="566976"/>
          </a:xfrm>
          <a:prstGeom prst="rect">
            <a:avLst/>
          </a:prstGeom>
          <a:noFill/>
          <a:ln/>
        </p:spPr>
        <p:txBody>
          <a:bodyPr wrap="none" lIns="0" tIns="0" rIns="0" bIns="0" rtlCol="0" anchor="t"/>
          <a:lstStyle/>
          <a:p>
            <a:pPr algn="r" indent="0" marL="0">
              <a:lnSpc>
                <a:spcPts val="4450"/>
              </a:lnSpc>
              <a:buNone/>
            </a:pPr>
            <a:r>
              <a:rPr lang="en-US" sz="3550" dirty="0">
                <a:solidFill>
                  <a:srgbClr val="2D3436"/>
                </a:solidFill>
                <a:latin typeface="Roboto Mono Medium" pitchFamily="34" charset="0"/>
                <a:ea typeface="Roboto Mono Medium" pitchFamily="34" charset="-122"/>
                <a:cs typeface="Roboto Mono Medium" pitchFamily="34" charset="-120"/>
              </a:rPr>
              <a:t>Red</a:t>
            </a:r>
            <a:endParaRPr lang="en-US" sz="3550" dirty="0"/>
          </a:p>
        </p:txBody>
      </p:sp>
      <p:sp>
        <p:nvSpPr>
          <p:cNvPr id="4" name="Text 2"/>
          <p:cNvSpPr/>
          <p:nvPr/>
        </p:nvSpPr>
        <p:spPr>
          <a:xfrm>
            <a:off x="793790" y="4820722"/>
            <a:ext cx="3785235" cy="453509"/>
          </a:xfrm>
          <a:prstGeom prst="rect">
            <a:avLst/>
          </a:prstGeom>
          <a:noFill/>
          <a:ln/>
        </p:spPr>
        <p:txBody>
          <a:bodyPr wrap="none" lIns="0" tIns="0" rIns="0" bIns="0" rtlCol="0" anchor="t"/>
          <a:lstStyle/>
          <a:p>
            <a:pPr algn="r" indent="0" marL="0">
              <a:lnSpc>
                <a:spcPts val="3550"/>
              </a:lnSpc>
              <a:buNone/>
            </a:pPr>
            <a:r>
              <a:rPr lang="en-US" sz="2200" dirty="0">
                <a:solidFill>
                  <a:srgbClr val="2D3436"/>
                </a:solidFill>
                <a:latin typeface="Roboto" pitchFamily="34" charset="0"/>
                <a:ea typeface="Roboto" pitchFamily="34" charset="-122"/>
                <a:cs typeface="Roboto" pitchFamily="34" charset="-120"/>
              </a:rPr>
              <a:t>Failing test first</a:t>
            </a:r>
            <a:endParaRPr lang="en-US" sz="2200" dirty="0"/>
          </a:p>
        </p:txBody>
      </p:sp>
      <p:pic>
        <p:nvPicPr>
          <p:cNvPr id="5" name="Image 0" descr="preencoded.png">    </p:cNvPr>
          <p:cNvPicPr>
            <a:picLocks noChangeAspect="1"/>
          </p:cNvPicPr>
          <p:nvPr/>
        </p:nvPicPr>
        <p:blipFill>
          <a:blip r:embed="rId1"/>
          <a:stretch>
            <a:fillRect/>
          </a:stretch>
        </p:blipFill>
        <p:spPr>
          <a:xfrm>
            <a:off x="5032653" y="2413516"/>
            <a:ext cx="4564975" cy="4564975"/>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71411" y="4251484"/>
            <a:ext cx="339328" cy="339328"/>
          </a:xfrm>
          <a:prstGeom prst="rect">
            <a:avLst/>
          </a:prstGeom>
        </p:spPr>
      </p:pic>
      <p:sp>
        <p:nvSpPr>
          <p:cNvPr id="7" name="Text 3"/>
          <p:cNvSpPr/>
          <p:nvPr/>
        </p:nvSpPr>
        <p:spPr>
          <a:xfrm>
            <a:off x="9937790" y="2926794"/>
            <a:ext cx="3898821" cy="566976"/>
          </a:xfrm>
          <a:prstGeom prst="rect">
            <a:avLst/>
          </a:prstGeom>
          <a:noFill/>
          <a:ln/>
        </p:spPr>
        <p:txBody>
          <a:bodyPr wrap="none" lIns="0" tIns="0" rIns="0" bIns="0" rtlCol="0" anchor="t"/>
          <a:lstStyle/>
          <a:p>
            <a:pPr algn="l" indent="0" marL="0">
              <a:lnSpc>
                <a:spcPts val="4450"/>
              </a:lnSpc>
              <a:buNone/>
            </a:pPr>
            <a:r>
              <a:rPr lang="en-US" sz="3550" dirty="0">
                <a:solidFill>
                  <a:srgbClr val="2D3436"/>
                </a:solidFill>
                <a:latin typeface="Roboto Mono Medium" pitchFamily="34" charset="0"/>
                <a:ea typeface="Roboto Mono Medium" pitchFamily="34" charset="-122"/>
                <a:cs typeface="Roboto Mono Medium" pitchFamily="34" charset="-120"/>
              </a:rPr>
              <a:t>Green</a:t>
            </a:r>
            <a:endParaRPr lang="en-US" sz="3550" dirty="0"/>
          </a:p>
        </p:txBody>
      </p:sp>
      <p:sp>
        <p:nvSpPr>
          <p:cNvPr id="8" name="Text 4"/>
          <p:cNvSpPr/>
          <p:nvPr/>
        </p:nvSpPr>
        <p:spPr>
          <a:xfrm>
            <a:off x="9937790" y="3629858"/>
            <a:ext cx="3898821" cy="453509"/>
          </a:xfrm>
          <a:prstGeom prst="rect">
            <a:avLst/>
          </a:prstGeom>
          <a:noFill/>
          <a:ln/>
        </p:spPr>
        <p:txBody>
          <a:bodyPr wrap="none" lIns="0" tIns="0" rIns="0" bIns="0" rtlCol="0" anchor="t"/>
          <a:lstStyle/>
          <a:p>
            <a:pPr algn="l" indent="0" marL="0">
              <a:lnSpc>
                <a:spcPts val="3550"/>
              </a:lnSpc>
              <a:buNone/>
            </a:pPr>
            <a:r>
              <a:rPr lang="en-US" sz="2200" dirty="0">
                <a:solidFill>
                  <a:srgbClr val="2D3436"/>
                </a:solidFill>
                <a:latin typeface="Roboto" pitchFamily="34" charset="0"/>
                <a:ea typeface="Roboto" pitchFamily="34" charset="-122"/>
                <a:cs typeface="Roboto" pitchFamily="34" charset="-120"/>
              </a:rPr>
              <a:t>Minimal code</a:t>
            </a:r>
            <a:endParaRPr lang="en-US" sz="2200" dirty="0"/>
          </a:p>
        </p:txBody>
      </p:sp>
      <p:pic>
        <p:nvPicPr>
          <p:cNvPr id="9" name="Image 2" descr="preencoded.png">    </p:cNvPr>
          <p:cNvPicPr>
            <a:picLocks noChangeAspect="1"/>
          </p:cNvPicPr>
          <p:nvPr/>
        </p:nvPicPr>
        <p:blipFill>
          <a:blip r:embed="rId4"/>
          <a:stretch>
            <a:fillRect/>
          </a:stretch>
        </p:blipFill>
        <p:spPr>
          <a:xfrm>
            <a:off x="5032653" y="2413516"/>
            <a:ext cx="4564975" cy="4564975"/>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70307" y="3300412"/>
            <a:ext cx="339328" cy="339328"/>
          </a:xfrm>
          <a:prstGeom prst="rect">
            <a:avLst/>
          </a:prstGeom>
        </p:spPr>
      </p:pic>
      <p:sp>
        <p:nvSpPr>
          <p:cNvPr id="11" name="Text 5"/>
          <p:cNvSpPr/>
          <p:nvPr/>
        </p:nvSpPr>
        <p:spPr>
          <a:xfrm>
            <a:off x="9937790" y="5450205"/>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D3436"/>
                </a:solidFill>
                <a:latin typeface="Roboto Mono Medium" pitchFamily="34" charset="0"/>
                <a:ea typeface="Roboto Mono Medium" pitchFamily="34" charset="-122"/>
                <a:cs typeface="Roboto Mono Medium" pitchFamily="34" charset="-120"/>
              </a:rPr>
              <a:t>Refactor</a:t>
            </a:r>
            <a:endParaRPr lang="en-US" sz="2650" dirty="0"/>
          </a:p>
        </p:txBody>
      </p:sp>
      <p:sp>
        <p:nvSpPr>
          <p:cNvPr id="12" name="Text 6"/>
          <p:cNvSpPr/>
          <p:nvPr/>
        </p:nvSpPr>
        <p:spPr>
          <a:xfrm>
            <a:off x="9937790" y="6011585"/>
            <a:ext cx="3898821" cy="453509"/>
          </a:xfrm>
          <a:prstGeom prst="rect">
            <a:avLst/>
          </a:prstGeom>
          <a:noFill/>
          <a:ln/>
        </p:spPr>
        <p:txBody>
          <a:bodyPr wrap="none" lIns="0" tIns="0" rIns="0" bIns="0" rtlCol="0" anchor="t"/>
          <a:lstStyle/>
          <a:p>
            <a:pPr algn="l" indent="0" marL="0">
              <a:lnSpc>
                <a:spcPts val="3550"/>
              </a:lnSpc>
              <a:buNone/>
            </a:pPr>
            <a:r>
              <a:rPr lang="en-US" sz="2200" dirty="0">
                <a:solidFill>
                  <a:srgbClr val="2D3436"/>
                </a:solidFill>
                <a:latin typeface="Roboto" pitchFamily="34" charset="0"/>
                <a:ea typeface="Roboto" pitchFamily="34" charset="-122"/>
                <a:cs typeface="Roboto" pitchFamily="34" charset="-120"/>
              </a:rPr>
              <a:t>Clean code, tests stay green</a:t>
            </a:r>
            <a:endParaRPr lang="en-US" sz="2200" dirty="0"/>
          </a:p>
        </p:txBody>
      </p:sp>
      <p:pic>
        <p:nvPicPr>
          <p:cNvPr id="13" name="Image 4" descr="preencoded.png">    </p:cNvPr>
          <p:cNvPicPr>
            <a:picLocks noChangeAspect="1"/>
          </p:cNvPicPr>
          <p:nvPr/>
        </p:nvPicPr>
        <p:blipFill>
          <a:blip r:embed="rId7"/>
          <a:stretch>
            <a:fillRect/>
          </a:stretch>
        </p:blipFill>
        <p:spPr>
          <a:xfrm>
            <a:off x="5032653" y="2413516"/>
            <a:ext cx="4564975" cy="4564975"/>
          </a:xfrm>
          <a:prstGeom prst="rect">
            <a:avLst/>
          </a:prstGeom>
        </p:spPr>
      </p:pic>
      <p:pic>
        <p:nvPicPr>
          <p:cNvPr id="14"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694533" y="6026587"/>
            <a:ext cx="339328" cy="33932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76035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D3436"/>
                </a:solidFill>
                <a:latin typeface="Roboto Mono Medium" pitchFamily="34" charset="0"/>
                <a:ea typeface="Roboto Mono Medium" pitchFamily="34" charset="-122"/>
                <a:cs typeface="Roboto Mono Medium" pitchFamily="34" charset="-120"/>
              </a:rPr>
              <a:t>More Hacks</a:t>
            </a:r>
            <a:endParaRPr lang="en-US" sz="4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51748"/>
          </a:xfrm>
          <a:prstGeom prst="rect">
            <a:avLst/>
          </a:prstGeom>
        </p:spPr>
      </p:pic>
      <p:sp>
        <p:nvSpPr>
          <p:cNvPr id="3" name="Shape 0"/>
          <p:cNvSpPr/>
          <p:nvPr/>
        </p:nvSpPr>
        <p:spPr>
          <a:xfrm>
            <a:off x="793790" y="3216235"/>
            <a:ext cx="6429494" cy="1632704"/>
          </a:xfrm>
          <a:prstGeom prst="roundRect">
            <a:avLst>
              <a:gd name="adj" fmla="val 560"/>
            </a:avLst>
          </a:prstGeom>
          <a:solidFill>
            <a:srgbClr val="E3E7EE"/>
          </a:solidFill>
          <a:ln w="22860">
            <a:solidFill>
              <a:srgbClr val="C9CDD4"/>
            </a:solidFill>
            <a:prstDash val="solid"/>
          </a:ln>
        </p:spPr>
      </p:sp>
      <p:sp>
        <p:nvSpPr>
          <p:cNvPr id="4" name="Shape 1"/>
          <p:cNvSpPr/>
          <p:nvPr/>
        </p:nvSpPr>
        <p:spPr>
          <a:xfrm>
            <a:off x="1020723" y="3443168"/>
            <a:ext cx="612338" cy="612338"/>
          </a:xfrm>
          <a:prstGeom prst="roundRect">
            <a:avLst>
              <a:gd name="adj" fmla="val 14931436"/>
            </a:avLst>
          </a:prstGeom>
          <a:solidFill>
            <a:srgbClr val="B05F44"/>
          </a:solidFill>
          <a:ln/>
        </p:spPr>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89077" y="3611523"/>
            <a:ext cx="275511" cy="275511"/>
          </a:xfrm>
          <a:prstGeom prst="rect">
            <a:avLst/>
          </a:prstGeom>
        </p:spPr>
      </p:pic>
      <p:sp>
        <p:nvSpPr>
          <p:cNvPr id="6" name="Text 2"/>
          <p:cNvSpPr/>
          <p:nvPr/>
        </p:nvSpPr>
        <p:spPr>
          <a:xfrm>
            <a:off x="1020723" y="4239220"/>
            <a:ext cx="3122890" cy="382786"/>
          </a:xfrm>
          <a:prstGeom prst="rect">
            <a:avLst/>
          </a:prstGeom>
          <a:noFill/>
          <a:ln/>
        </p:spPr>
        <p:txBody>
          <a:bodyPr wrap="none" lIns="0" tIns="0" rIns="0" bIns="0" rtlCol="0" anchor="t"/>
          <a:lstStyle/>
          <a:p>
            <a:pPr algn="l" indent="0" marL="0">
              <a:lnSpc>
                <a:spcPts val="3000"/>
              </a:lnSpc>
              <a:buNone/>
            </a:pPr>
            <a:r>
              <a:rPr lang="en-US" sz="2400" dirty="0">
                <a:solidFill>
                  <a:srgbClr val="2D3436"/>
                </a:solidFill>
                <a:latin typeface="Roboto Mono Medium" pitchFamily="34" charset="0"/>
                <a:ea typeface="Roboto Mono Medium" pitchFamily="34" charset="-122"/>
                <a:cs typeface="Roboto Mono Medium" pitchFamily="34" charset="-120"/>
              </a:rPr>
              <a:t>Do Session Rename</a:t>
            </a:r>
            <a:endParaRPr lang="en-US" sz="2400" dirty="0"/>
          </a:p>
        </p:txBody>
      </p:sp>
      <p:sp>
        <p:nvSpPr>
          <p:cNvPr id="7" name="Shape 3"/>
          <p:cNvSpPr/>
          <p:nvPr/>
        </p:nvSpPr>
        <p:spPr>
          <a:xfrm>
            <a:off x="7406997" y="3216235"/>
            <a:ext cx="6429613" cy="1632704"/>
          </a:xfrm>
          <a:prstGeom prst="roundRect">
            <a:avLst>
              <a:gd name="adj" fmla="val 560"/>
            </a:avLst>
          </a:prstGeom>
          <a:solidFill>
            <a:srgbClr val="E3E7EE"/>
          </a:solidFill>
          <a:ln w="22860">
            <a:solidFill>
              <a:srgbClr val="C9CDD4"/>
            </a:solidFill>
            <a:prstDash val="solid"/>
          </a:ln>
        </p:spPr>
      </p:sp>
      <p:sp>
        <p:nvSpPr>
          <p:cNvPr id="8" name="Shape 4"/>
          <p:cNvSpPr/>
          <p:nvPr/>
        </p:nvSpPr>
        <p:spPr>
          <a:xfrm>
            <a:off x="7633930" y="3443168"/>
            <a:ext cx="612338" cy="612338"/>
          </a:xfrm>
          <a:prstGeom prst="roundRect">
            <a:avLst>
              <a:gd name="adj" fmla="val 14931436"/>
            </a:avLst>
          </a:prstGeom>
          <a:solidFill>
            <a:srgbClr val="B05F44"/>
          </a:solidFill>
          <a:ln/>
        </p:spPr>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02285" y="3611523"/>
            <a:ext cx="275511" cy="275511"/>
          </a:xfrm>
          <a:prstGeom prst="rect">
            <a:avLst/>
          </a:prstGeom>
        </p:spPr>
      </p:pic>
      <p:sp>
        <p:nvSpPr>
          <p:cNvPr id="10" name="Text 5"/>
          <p:cNvSpPr/>
          <p:nvPr/>
        </p:nvSpPr>
        <p:spPr>
          <a:xfrm>
            <a:off x="7633930" y="4239220"/>
            <a:ext cx="3062168" cy="382786"/>
          </a:xfrm>
          <a:prstGeom prst="rect">
            <a:avLst/>
          </a:prstGeom>
          <a:noFill/>
          <a:ln/>
        </p:spPr>
        <p:txBody>
          <a:bodyPr wrap="none" lIns="0" tIns="0" rIns="0" bIns="0" rtlCol="0" anchor="t"/>
          <a:lstStyle/>
          <a:p>
            <a:pPr algn="l" indent="0" marL="0">
              <a:lnSpc>
                <a:spcPts val="3000"/>
              </a:lnSpc>
              <a:buNone/>
            </a:pPr>
            <a:r>
              <a:rPr lang="en-US" sz="2400" dirty="0">
                <a:solidFill>
                  <a:srgbClr val="2D3436"/>
                </a:solidFill>
                <a:latin typeface="Roboto Mono Medium" pitchFamily="34" charset="0"/>
                <a:ea typeface="Roboto Mono Medium" pitchFamily="34" charset="-122"/>
                <a:cs typeface="Roboto Mono Medium" pitchFamily="34" charset="-120"/>
              </a:rPr>
              <a:t>Use Status Lines</a:t>
            </a:r>
            <a:endParaRPr lang="en-US" sz="2400" dirty="0"/>
          </a:p>
        </p:txBody>
      </p:sp>
      <p:sp>
        <p:nvSpPr>
          <p:cNvPr id="11" name="Shape 6"/>
          <p:cNvSpPr/>
          <p:nvPr/>
        </p:nvSpPr>
        <p:spPr>
          <a:xfrm>
            <a:off x="793790" y="5032653"/>
            <a:ext cx="6429494" cy="2015490"/>
          </a:xfrm>
          <a:prstGeom prst="roundRect">
            <a:avLst>
              <a:gd name="adj" fmla="val 454"/>
            </a:avLst>
          </a:prstGeom>
          <a:solidFill>
            <a:srgbClr val="E3E7EE"/>
          </a:solidFill>
          <a:ln w="22860">
            <a:solidFill>
              <a:srgbClr val="C9CDD4"/>
            </a:solidFill>
            <a:prstDash val="solid"/>
          </a:ln>
        </p:spPr>
      </p:sp>
      <p:sp>
        <p:nvSpPr>
          <p:cNvPr id="12" name="Shape 7"/>
          <p:cNvSpPr/>
          <p:nvPr/>
        </p:nvSpPr>
        <p:spPr>
          <a:xfrm>
            <a:off x="1020723" y="5259586"/>
            <a:ext cx="612338" cy="612338"/>
          </a:xfrm>
          <a:prstGeom prst="roundRect">
            <a:avLst>
              <a:gd name="adj" fmla="val 14931436"/>
            </a:avLst>
          </a:prstGeom>
          <a:solidFill>
            <a:srgbClr val="B05F44"/>
          </a:solidFill>
          <a:ln/>
        </p:spPr>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9077" y="5427940"/>
            <a:ext cx="275511" cy="275511"/>
          </a:xfrm>
          <a:prstGeom prst="rect">
            <a:avLst/>
          </a:prstGeom>
        </p:spPr>
      </p:pic>
      <p:sp>
        <p:nvSpPr>
          <p:cNvPr id="14" name="Text 8"/>
          <p:cNvSpPr/>
          <p:nvPr/>
        </p:nvSpPr>
        <p:spPr>
          <a:xfrm>
            <a:off x="1020723" y="6055638"/>
            <a:ext cx="3306604" cy="765572"/>
          </a:xfrm>
          <a:prstGeom prst="rect">
            <a:avLst/>
          </a:prstGeom>
          <a:noFill/>
          <a:ln/>
        </p:spPr>
        <p:txBody>
          <a:bodyPr wrap="square" lIns="0" tIns="0" rIns="0" bIns="0" rtlCol="0" anchor="t"/>
          <a:lstStyle/>
          <a:p>
            <a:pPr algn="l" indent="0" marL="0">
              <a:lnSpc>
                <a:spcPts val="3000"/>
              </a:lnSpc>
              <a:buNone/>
            </a:pPr>
            <a:r>
              <a:rPr lang="en-US" sz="2400" dirty="0">
                <a:solidFill>
                  <a:srgbClr val="2D3436"/>
                </a:solidFill>
                <a:latin typeface="Roboto Mono Medium" pitchFamily="34" charset="0"/>
                <a:ea typeface="Roboto Mono Medium" pitchFamily="34" charset="-122"/>
                <a:cs typeface="Roboto Mono Medium" pitchFamily="34" charset="-120"/>
              </a:rPr>
              <a:t>Use GIT for</a:t>
            </a:r>
            <a:endParaRPr lang="en-US" sz="2400" dirty="0"/>
          </a:p>
          <a:p>
            <a:pPr algn="l" indent="0" marL="0">
              <a:lnSpc>
                <a:spcPts val="3000"/>
              </a:lnSpc>
              <a:buNone/>
            </a:pPr>
            <a:r>
              <a:rPr lang="en-US" sz="2400" dirty="0">
                <a:solidFill>
                  <a:srgbClr val="2D3436"/>
                </a:solidFill>
                <a:latin typeface="Roboto Mono Medium" pitchFamily="34" charset="0"/>
                <a:ea typeface="Roboto Mono Medium" pitchFamily="34" charset="-122"/>
                <a:cs typeface="Roboto Mono Medium" pitchFamily="34" charset="-120"/>
              </a:rPr>
              <a:t>User Claude Config</a:t>
            </a:r>
            <a:endParaRPr lang="en-US" sz="2400" dirty="0"/>
          </a:p>
        </p:txBody>
      </p:sp>
      <p:sp>
        <p:nvSpPr>
          <p:cNvPr id="15" name="Shape 9"/>
          <p:cNvSpPr/>
          <p:nvPr/>
        </p:nvSpPr>
        <p:spPr>
          <a:xfrm>
            <a:off x="7406997" y="5032653"/>
            <a:ext cx="6429613" cy="2015490"/>
          </a:xfrm>
          <a:prstGeom prst="roundRect">
            <a:avLst>
              <a:gd name="adj" fmla="val 454"/>
            </a:avLst>
          </a:prstGeom>
          <a:solidFill>
            <a:srgbClr val="E3E7EE"/>
          </a:solidFill>
          <a:ln w="22860">
            <a:solidFill>
              <a:srgbClr val="C9CDD4"/>
            </a:solidFill>
            <a:prstDash val="solid"/>
          </a:ln>
        </p:spPr>
      </p:sp>
      <p:sp>
        <p:nvSpPr>
          <p:cNvPr id="16" name="Shape 10"/>
          <p:cNvSpPr/>
          <p:nvPr/>
        </p:nvSpPr>
        <p:spPr>
          <a:xfrm>
            <a:off x="7633930" y="5259586"/>
            <a:ext cx="612338" cy="612338"/>
          </a:xfrm>
          <a:prstGeom prst="roundRect">
            <a:avLst>
              <a:gd name="adj" fmla="val 14931436"/>
            </a:avLst>
          </a:prstGeom>
          <a:solidFill>
            <a:srgbClr val="B05F44"/>
          </a:solidFill>
          <a:ln/>
        </p:spPr>
      </p:sp>
      <p:pic>
        <p:nvPicPr>
          <p:cNvPr id="17"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2285" y="5427940"/>
            <a:ext cx="275511" cy="275511"/>
          </a:xfrm>
          <a:prstGeom prst="rect">
            <a:avLst/>
          </a:prstGeom>
        </p:spPr>
      </p:pic>
      <p:sp>
        <p:nvSpPr>
          <p:cNvPr id="18" name="Text 11"/>
          <p:cNvSpPr/>
          <p:nvPr/>
        </p:nvSpPr>
        <p:spPr>
          <a:xfrm>
            <a:off x="7633930" y="6055638"/>
            <a:ext cx="3490317" cy="765572"/>
          </a:xfrm>
          <a:prstGeom prst="rect">
            <a:avLst/>
          </a:prstGeom>
          <a:noFill/>
          <a:ln/>
        </p:spPr>
        <p:txBody>
          <a:bodyPr wrap="square" lIns="0" tIns="0" rIns="0" bIns="0" rtlCol="0" anchor="t"/>
          <a:lstStyle/>
          <a:p>
            <a:pPr algn="l" indent="0" marL="0">
              <a:lnSpc>
                <a:spcPts val="3000"/>
              </a:lnSpc>
              <a:buNone/>
            </a:pPr>
            <a:r>
              <a:rPr lang="en-US" sz="2400" dirty="0">
                <a:solidFill>
                  <a:srgbClr val="2D3436"/>
                </a:solidFill>
                <a:latin typeface="Roboto Mono Medium" pitchFamily="34" charset="0"/>
                <a:ea typeface="Roboto Mono Medium" pitchFamily="34" charset="-122"/>
                <a:cs typeface="Roboto Mono Medium" pitchFamily="34" charset="-120"/>
              </a:rPr>
              <a:t>RTK</a:t>
            </a:r>
            <a:endParaRPr lang="en-US" sz="2400" dirty="0"/>
          </a:p>
          <a:p>
            <a:pPr algn="l" indent="0" marL="0">
              <a:lnSpc>
                <a:spcPts val="3000"/>
              </a:lnSpc>
              <a:buNone/>
            </a:pPr>
            <a:r>
              <a:rPr lang="en-US" sz="2400" dirty="0">
                <a:solidFill>
                  <a:srgbClr val="2D3436"/>
                </a:solidFill>
                <a:latin typeface="Roboto Mono Medium" pitchFamily="34" charset="0"/>
                <a:ea typeface="Roboto Mono Medium" pitchFamily="34" charset="-122"/>
                <a:cs typeface="Roboto Mono Medium" pitchFamily="34" charset="-120"/>
              </a:rPr>
              <a:t>Reduce bash Context</a:t>
            </a:r>
            <a:endParaRPr lang="en-US" sz="2400" dirty="0"/>
          </a:p>
        </p:txBody>
      </p:sp>
      <p:sp>
        <p:nvSpPr>
          <p:cNvPr id="19" name="Text 12"/>
          <p:cNvSpPr/>
          <p:nvPr/>
        </p:nvSpPr>
        <p:spPr>
          <a:xfrm>
            <a:off x="793790" y="7254835"/>
            <a:ext cx="13042821" cy="310277"/>
          </a:xfrm>
          <a:prstGeom prst="rect">
            <a:avLst/>
          </a:prstGeom>
          <a:noFill/>
          <a:ln/>
        </p:spPr>
        <p:txBody>
          <a:bodyPr wrap="none" lIns="0" tIns="0" rIns="0" bIns="0" rtlCol="0" anchor="t"/>
          <a:lstStyle/>
          <a:p>
            <a:pPr algn="l" indent="0" marL="0">
              <a:lnSpc>
                <a:spcPts val="2400"/>
              </a:lnSpc>
              <a:buNone/>
            </a:pP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115633" y="630912"/>
            <a:ext cx="6399133" cy="1212056"/>
          </a:xfrm>
          <a:prstGeom prst="rect">
            <a:avLst/>
          </a:prstGeom>
          <a:noFill/>
          <a:ln/>
        </p:spPr>
        <p:txBody>
          <a:bodyPr wrap="square" lIns="0" tIns="0" rIns="0" bIns="0" rtlCol="0" anchor="t"/>
          <a:lstStyle/>
          <a:p>
            <a:pPr algn="ctr" indent="0" marL="0">
              <a:lnSpc>
                <a:spcPts val="4750"/>
              </a:lnSpc>
              <a:buNone/>
            </a:pPr>
            <a:r>
              <a:rPr lang="en-US" sz="3800" b="1" dirty="0">
                <a:solidFill>
                  <a:srgbClr val="2D3436"/>
                </a:solidFill>
                <a:latin typeface="Roboto Mono Medium" pitchFamily="34" charset="0"/>
                <a:ea typeface="Roboto Mono Medium" pitchFamily="34" charset="-122"/>
                <a:cs typeface="Roboto Mono Medium" pitchFamily="34" charset="-120"/>
              </a:rPr>
              <a:t>Claude Code</a:t>
            </a:r>
            <a:pPr algn="ctr" indent="0" marL="0">
              <a:lnSpc>
                <a:spcPts val="4750"/>
              </a:lnSpc>
              <a:buNone/>
            </a:pPr>
            <a:r>
              <a:rPr lang="en-US" sz="3800" b="1" dirty="0">
                <a:solidFill>
                  <a:srgbClr val="2D3436"/>
                </a:solidFill>
                <a:latin typeface="Roboto Mono Medium" pitchFamily="34" charset="0"/>
                <a:ea typeface="Roboto Mono Medium" pitchFamily="34" charset="-122"/>
                <a:cs typeface="Roboto Mono Medium" pitchFamily="34" charset="-120"/>
              </a:rPr>
              <a:t>Context Window Insides</a:t>
            </a:r>
            <a:endParaRPr lang="en-US" sz="3800" dirty="0"/>
          </a:p>
        </p:txBody>
      </p:sp>
      <p:sp>
        <p:nvSpPr>
          <p:cNvPr id="3" name="Text 1"/>
          <p:cNvSpPr/>
          <p:nvPr/>
        </p:nvSpPr>
        <p:spPr>
          <a:xfrm>
            <a:off x="4406503" y="1973461"/>
            <a:ext cx="5817394" cy="263366"/>
          </a:xfrm>
          <a:prstGeom prst="rect">
            <a:avLst/>
          </a:prstGeom>
          <a:noFill/>
          <a:ln/>
        </p:spPr>
        <p:txBody>
          <a:bodyPr wrap="none" lIns="0" tIns="0" rIns="0" bIns="0" rtlCol="0" anchor="t"/>
          <a:lstStyle/>
          <a:p>
            <a:pPr algn="ctr" indent="0" marL="0">
              <a:lnSpc>
                <a:spcPts val="2050"/>
              </a:lnSpc>
              <a:buNone/>
            </a:pPr>
            <a:r>
              <a:rPr lang="en-US" sz="1650" b="1" u="sng" dirty="0">
                <a:solidFill>
                  <a:srgbClr val="B05F44"/>
                </a:solidFill>
                <a:latin typeface="Roboto Mono Medium" pitchFamily="34" charset="0"/>
                <a:ea typeface="Roboto Mono Medium" pitchFamily="34" charset="-122"/>
                <a:cs typeface="Roboto Mono Medium"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https://code.claude.com/docs/en/context-window</a:t>
            </a:r>
            <a:endParaRPr lang="en-US" sz="1650" dirty="0"/>
          </a:p>
        </p:txBody>
      </p:sp>
      <p:pic>
        <p:nvPicPr>
          <p:cNvPr id="4" name="Image 0" descr="preencoded.png">    </p:cNvPr>
          <p:cNvPicPr>
            <a:picLocks noChangeAspect="1"/>
          </p:cNvPicPr>
          <p:nvPr/>
        </p:nvPicPr>
        <p:blipFill>
          <a:blip r:embed="rId2"/>
          <a:stretch>
            <a:fillRect/>
          </a:stretch>
        </p:blipFill>
        <p:spPr>
          <a:xfrm>
            <a:off x="4024193" y="2367320"/>
            <a:ext cx="6581894" cy="523136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84265"/>
            <a:ext cx="5387102" cy="673418"/>
          </a:xfrm>
          <a:prstGeom prst="rect">
            <a:avLst/>
          </a:prstGeom>
          <a:noFill/>
          <a:ln/>
        </p:spPr>
        <p:txBody>
          <a:bodyPr wrap="none" lIns="0" tIns="0" rIns="0" bIns="0" rtlCol="0" anchor="t"/>
          <a:lstStyle/>
          <a:p>
            <a:pPr algn="l" indent="0" marL="0">
              <a:lnSpc>
                <a:spcPts val="5300"/>
              </a:lnSpc>
              <a:buNone/>
            </a:pPr>
            <a:r>
              <a:rPr lang="en-US" sz="4200" dirty="0">
                <a:solidFill>
                  <a:srgbClr val="2D3436"/>
                </a:solidFill>
                <a:latin typeface="Roboto Mono Medium" pitchFamily="34" charset="0"/>
                <a:ea typeface="Roboto Mono Medium" pitchFamily="34" charset="-122"/>
                <a:cs typeface="Roboto Mono Medium" pitchFamily="34" charset="-120"/>
              </a:rPr>
              <a:t>Beads</a:t>
            </a:r>
            <a:endParaRPr lang="en-US" sz="42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3790" y="1764744"/>
            <a:ext cx="538639" cy="538639"/>
          </a:xfrm>
          <a:prstGeom prst="rect">
            <a:avLst/>
          </a:prstGeom>
        </p:spPr>
      </p:pic>
      <p:sp>
        <p:nvSpPr>
          <p:cNvPr id="5" name="Text 1"/>
          <p:cNvSpPr/>
          <p:nvPr/>
        </p:nvSpPr>
        <p:spPr>
          <a:xfrm>
            <a:off x="793790" y="2559248"/>
            <a:ext cx="3650218" cy="673179"/>
          </a:xfrm>
          <a:prstGeom prst="rect">
            <a:avLst/>
          </a:prstGeom>
          <a:noFill/>
          <a:ln/>
        </p:spPr>
        <p:txBody>
          <a:bodyPr wrap="square" lIns="0" tIns="0" rIns="0" bIns="0" rtlCol="0" anchor="t"/>
          <a:lstStyle/>
          <a:p>
            <a:pPr algn="l" indent="0" marL="0">
              <a:lnSpc>
                <a:spcPts val="2650"/>
              </a:lnSpc>
              <a:buNone/>
            </a:pPr>
            <a:r>
              <a:rPr lang="en-US" sz="2100" dirty="0">
                <a:solidFill>
                  <a:srgbClr val="2D3436"/>
                </a:solidFill>
                <a:latin typeface="Roboto Mono Medium" pitchFamily="34" charset="0"/>
                <a:ea typeface="Roboto Mono Medium" pitchFamily="34" charset="-122"/>
                <a:cs typeface="Roboto Mono Medium" pitchFamily="34" charset="-120"/>
              </a:rPr>
              <a:t>Persistent memory across sessions</a:t>
            </a:r>
            <a:endParaRPr lang="en-US" sz="21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99873" y="1764744"/>
            <a:ext cx="538639" cy="538639"/>
          </a:xfrm>
          <a:prstGeom prst="rect">
            <a:avLst/>
          </a:prstGeom>
        </p:spPr>
      </p:pic>
      <p:sp>
        <p:nvSpPr>
          <p:cNvPr id="7" name="Text 2"/>
          <p:cNvSpPr/>
          <p:nvPr/>
        </p:nvSpPr>
        <p:spPr>
          <a:xfrm>
            <a:off x="4699873" y="2559248"/>
            <a:ext cx="3650337" cy="673179"/>
          </a:xfrm>
          <a:prstGeom prst="rect">
            <a:avLst/>
          </a:prstGeom>
          <a:noFill/>
          <a:ln/>
        </p:spPr>
        <p:txBody>
          <a:bodyPr wrap="square" lIns="0" tIns="0" rIns="0" bIns="0" rtlCol="0" anchor="t"/>
          <a:lstStyle/>
          <a:p>
            <a:pPr algn="l" indent="0" marL="0">
              <a:lnSpc>
                <a:spcPts val="2650"/>
              </a:lnSpc>
              <a:buNone/>
            </a:pPr>
            <a:r>
              <a:rPr lang="en-US" sz="2100" dirty="0">
                <a:solidFill>
                  <a:srgbClr val="2D3436"/>
                </a:solidFill>
                <a:latin typeface="Roboto Mono Medium" pitchFamily="34" charset="0"/>
                <a:ea typeface="Roboto Mono Medium" pitchFamily="34" charset="-122"/>
                <a:cs typeface="Roboto Mono Medium" pitchFamily="34" charset="-120"/>
              </a:rPr>
              <a:t>Dependency-aware "ready" task queue</a:t>
            </a:r>
            <a:endParaRPr lang="en-US" sz="21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3790" y="3641765"/>
            <a:ext cx="538639" cy="538639"/>
          </a:xfrm>
          <a:prstGeom prst="rect">
            <a:avLst/>
          </a:prstGeom>
        </p:spPr>
      </p:pic>
      <p:sp>
        <p:nvSpPr>
          <p:cNvPr id="9" name="Text 3"/>
          <p:cNvSpPr/>
          <p:nvPr/>
        </p:nvSpPr>
        <p:spPr>
          <a:xfrm>
            <a:off x="793790" y="4436269"/>
            <a:ext cx="3650218" cy="673179"/>
          </a:xfrm>
          <a:prstGeom prst="rect">
            <a:avLst/>
          </a:prstGeom>
          <a:noFill/>
          <a:ln/>
        </p:spPr>
        <p:txBody>
          <a:bodyPr wrap="square" lIns="0" tIns="0" rIns="0" bIns="0" rtlCol="0" anchor="t"/>
          <a:lstStyle/>
          <a:p>
            <a:pPr algn="l" indent="0" marL="0">
              <a:lnSpc>
                <a:spcPts val="2650"/>
              </a:lnSpc>
              <a:buNone/>
            </a:pPr>
            <a:r>
              <a:rPr lang="en-US" sz="2100" dirty="0">
                <a:solidFill>
                  <a:srgbClr val="2D3436"/>
                </a:solidFill>
                <a:latin typeface="Roboto Mono Medium" pitchFamily="34" charset="0"/>
                <a:ea typeface="Roboto Mono Medium" pitchFamily="34" charset="-122"/>
                <a:cs typeface="Roboto Mono Medium" pitchFamily="34" charset="-120"/>
              </a:rPr>
              <a:t>Git-native, zero-conflict tracking</a:t>
            </a:r>
            <a:endParaRPr lang="en-US" sz="21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99873" y="3641765"/>
            <a:ext cx="538639" cy="538639"/>
          </a:xfrm>
          <a:prstGeom prst="rect">
            <a:avLst/>
          </a:prstGeom>
        </p:spPr>
      </p:pic>
      <p:sp>
        <p:nvSpPr>
          <p:cNvPr id="11" name="Text 4"/>
          <p:cNvSpPr/>
          <p:nvPr/>
        </p:nvSpPr>
        <p:spPr>
          <a:xfrm>
            <a:off x="4699873" y="4436269"/>
            <a:ext cx="3650337" cy="1009769"/>
          </a:xfrm>
          <a:prstGeom prst="rect">
            <a:avLst/>
          </a:prstGeom>
          <a:noFill/>
          <a:ln/>
        </p:spPr>
        <p:txBody>
          <a:bodyPr wrap="square" lIns="0" tIns="0" rIns="0" bIns="0" rtlCol="0" anchor="t"/>
          <a:lstStyle/>
          <a:p>
            <a:pPr algn="l" indent="0" marL="0">
              <a:lnSpc>
                <a:spcPts val="2650"/>
              </a:lnSpc>
              <a:buNone/>
            </a:pPr>
            <a:r>
              <a:rPr lang="en-US" sz="2100" dirty="0">
                <a:solidFill>
                  <a:srgbClr val="2D3436"/>
                </a:solidFill>
                <a:latin typeface="Roboto Mono Medium" pitchFamily="34" charset="0"/>
                <a:ea typeface="Roboto Mono Medium" pitchFamily="34" charset="-122"/>
                <a:cs typeface="Roboto Mono Medium" pitchFamily="34" charset="-120"/>
              </a:rPr>
              <a:t>Multi-agent orchestration with worktrees</a:t>
            </a:r>
            <a:endParaRPr lang="en-US" sz="2100" dirty="0"/>
          </a:p>
        </p:txBody>
      </p:sp>
      <p:pic>
        <p:nvPicPr>
          <p:cNvPr id="12"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3790" y="5855375"/>
            <a:ext cx="538639" cy="538639"/>
          </a:xfrm>
          <a:prstGeom prst="rect">
            <a:avLst/>
          </a:prstGeom>
        </p:spPr>
      </p:pic>
      <p:sp>
        <p:nvSpPr>
          <p:cNvPr id="13" name="Text 5"/>
          <p:cNvSpPr/>
          <p:nvPr/>
        </p:nvSpPr>
        <p:spPr>
          <a:xfrm>
            <a:off x="793790" y="6649879"/>
            <a:ext cx="3650218" cy="673179"/>
          </a:xfrm>
          <a:prstGeom prst="rect">
            <a:avLst/>
          </a:prstGeom>
          <a:noFill/>
          <a:ln/>
        </p:spPr>
        <p:txBody>
          <a:bodyPr wrap="square" lIns="0" tIns="0" rIns="0" bIns="0" rtlCol="0" anchor="t"/>
          <a:lstStyle/>
          <a:p>
            <a:pPr algn="l" indent="0" marL="0">
              <a:lnSpc>
                <a:spcPts val="2650"/>
              </a:lnSpc>
              <a:buNone/>
            </a:pPr>
            <a:r>
              <a:rPr lang="en-US" sz="2100" dirty="0">
                <a:solidFill>
                  <a:srgbClr val="2D3436"/>
                </a:solidFill>
                <a:latin typeface="Roboto Mono Medium" pitchFamily="34" charset="0"/>
                <a:ea typeface="Roboto Mono Medium" pitchFamily="34" charset="-122"/>
                <a:cs typeface="Roboto Mono Medium" pitchFamily="34" charset="-120"/>
              </a:rPr>
              <a:t>Context compaction / memory decay</a:t>
            </a:r>
            <a:endParaRPr lang="en-US" sz="2100" dirty="0"/>
          </a:p>
        </p:txBody>
      </p:sp>
      <p:pic>
        <p:nvPicPr>
          <p:cNvPr id="14"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699873" y="5855375"/>
            <a:ext cx="538639" cy="538639"/>
          </a:xfrm>
          <a:prstGeom prst="rect">
            <a:avLst/>
          </a:prstGeom>
        </p:spPr>
      </p:pic>
      <p:sp>
        <p:nvSpPr>
          <p:cNvPr id="15" name="Text 6"/>
          <p:cNvSpPr/>
          <p:nvPr/>
        </p:nvSpPr>
        <p:spPr>
          <a:xfrm>
            <a:off x="4699873" y="6649879"/>
            <a:ext cx="2746296" cy="336590"/>
          </a:xfrm>
          <a:prstGeom prst="rect">
            <a:avLst/>
          </a:prstGeom>
          <a:noFill/>
          <a:ln/>
        </p:spPr>
        <p:txBody>
          <a:bodyPr wrap="none" lIns="0" tIns="0" rIns="0" bIns="0" rtlCol="0" anchor="t"/>
          <a:lstStyle/>
          <a:p>
            <a:pPr algn="l" indent="0" marL="0">
              <a:lnSpc>
                <a:spcPts val="2650"/>
              </a:lnSpc>
              <a:buNone/>
            </a:pPr>
            <a:r>
              <a:rPr lang="en-US" sz="2100" u="sng" dirty="0">
                <a:solidFill>
                  <a:srgbClr val="B05F44"/>
                </a:solidFill>
                <a:latin typeface="Roboto Mono Medium" pitchFamily="34" charset="0"/>
                <a:ea typeface="Roboto Mono Medium" pitchFamily="34" charset="-122"/>
                <a:cs typeface="Roboto Mono Medium" pitchFamily="34" charset="-120"/>
                <a:hlinkClick r:id="rId14" invalidUrl="" action="" tgtFrame="" tooltip="" history="1" highlightClick="0" endSnd="0">
                  <a:extLst>
                    <a:ext uri="{A12FA001-AC4F-418D-AE19-62706E023703}">
                      <ahyp:hlinkClr xmlns:ahyp="http://schemas.microsoft.com/office/drawing/2018/hyperlinkcolor" val="tx"/>
                    </a:ext>
                  </a:extLst>
                </a:hlinkClick>
              </a:rPr>
              <a:t>gastownhall/beads</a:t>
            </a:r>
            <a:endParaRPr lang="en-US" sz="2100" dirty="0"/>
          </a:p>
        </p:txBody>
      </p:sp>
      <p:sp>
        <p:nvSpPr>
          <p:cNvPr id="16" name="Text 7"/>
          <p:cNvSpPr/>
          <p:nvPr/>
        </p:nvSpPr>
        <p:spPr>
          <a:xfrm>
            <a:off x="4699873" y="7109222"/>
            <a:ext cx="3650337" cy="336113"/>
          </a:xfrm>
          <a:prstGeom prst="rect">
            <a:avLst/>
          </a:prstGeom>
          <a:noFill/>
          <a:ln/>
        </p:spPr>
        <p:txBody>
          <a:bodyPr wrap="none" lIns="0" tIns="0" rIns="0" bIns="0" rtlCol="0" anchor="t"/>
          <a:lstStyle/>
          <a:p>
            <a:pPr algn="l" indent="0" marL="0">
              <a:lnSpc>
                <a:spcPts val="2600"/>
              </a:lnSpc>
              <a:buNone/>
            </a:pP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Text 0"/>
          <p:cNvSpPr/>
          <p:nvPr/>
        </p:nvSpPr>
        <p:spPr>
          <a:xfrm>
            <a:off x="793790" y="3933349"/>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2026-04-23T04:21:18Z</dcterms:created>
  <dcterms:modified xsi:type="dcterms:W3CDTF">2026-04-23T04:21:18Z</dcterms:modified>
</cp:coreProperties>
</file>